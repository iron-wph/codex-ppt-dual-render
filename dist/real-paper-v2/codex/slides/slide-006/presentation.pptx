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280441dc58440b" /><Relationship Type="http://schemas.openxmlformats.org/officeDocument/2006/relationships/extended-properties" Target="/docProps/app.xml" Id="R807448caf1c64b2a" /><Relationship Type="http://schemas.openxmlformats.org/officeDocument/2006/relationships/officeDocument" Target="/ppt/presentation.xml" Id="R6f07da06003444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e8f6aae6d2403f"/>
  </p:sldMasterIdLst>
  <p:notesMasterIdLst>
    <p:notesMasterId xmlns:r="http://schemas.openxmlformats.org/officeDocument/2006/relationships" r:id="R9d67eac1261a40f9"/>
  </p:notesMasterIdLst>
  <p:sldIdLst>
    <p:sldId xmlns:r="http://schemas.openxmlformats.org/officeDocument/2006/relationships" id="256" r:id="R41bd594a16b845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d9bb10c0b0476c" /><Relationship Type="http://schemas.openxmlformats.org/officeDocument/2006/relationships/slideMaster" Target="/ppt/slideMasters/slideMaster1.xml" Id="R2be8f6aae6d2403f" /><Relationship Type="http://schemas.openxmlformats.org/officeDocument/2006/relationships/notesMaster" Target="/ppt/notesMasters/notesMaster1.xml" Id="R9d67eac1261a40f9" /><Relationship Type="http://schemas.openxmlformats.org/officeDocument/2006/relationships/presProps" Target="/ppt/presProps.xml" Id="Rd719b141e4534ec2" /><Relationship Type="http://schemas.openxmlformats.org/officeDocument/2006/relationships/tableStyles" Target="/ppt/tableStyles.xml" Id="Ra18689f68eae4fe2" /><Relationship Type="http://schemas.openxmlformats.org/officeDocument/2006/relationships/slide" Target="/ppt/slides/slide1.xml" Id="R41bd594a16b845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4cb80626b64f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3fecaf28f84ce0" /><Relationship Type="http://schemas.openxmlformats.org/officeDocument/2006/relationships/notesMaster" Target="/ppt/notesMasters/notesMaster1.xml" Id="R5574f5757f654e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把两套系统的 SFT→RL 平均变化放在同一张表里。RLinf 从 24.48% 提升到 84.63%，增加 60.15 个百分点；SimpleVLA 从 34.40% 提升到 72.18%，增加 37.78 个百分点，所以 RLinf 的完整训练系统平均增幅更大。但这一页不构成单因素消融：精度、学习率、LoRA、轨迹收集和 reward 设计都不同。下一页继续检查初始模型与评估温度带来的敏感性。</a:t>
            </a:r>
          </a:p>
          <a:p xmlns:a="http://schemas.openxmlformats.org/drawingml/2006/main">
            <a:r>
              <a:t>讲述提示：先读两组平均值和增幅，再明确“系统级比较”而非“纯算法因果”。</a:t>
            </a:r>
          </a:p>
          <a:p xmlns:a="http://schemas.openxmlformats.org/drawingml/2006/main">
            <a:r>
              <a:t>[Sources] p6-table-1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4f715b64c34f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bc047cd50d4e27" /><Relationship Type="http://schemas.openxmlformats.org/officeDocument/2006/relationships/slideLayout" Target="/ppt/slideLayouts/slideLayout1.xml" Id="R4f987e44831b47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987e44831b47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4fc0e9fba4739" /><Relationship Type="http://schemas.openxmlformats.org/officeDocument/2006/relationships/notesSlide" Target="/ppt/notesSlides/notesSlide1.xml" Id="R47c9be1b0f7a49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1-top-rule">
            <a:extLst xmlns:a="http://schemas.openxmlformats.org/drawingml/2006/main">
              <a:ext uri="{FF2B5EF4-FFF2-40B4-BE49-F238E27FC236}">
                <a16:creationId xmlns:a16="http://schemas.microsoft.com/office/drawing/2014/main" id="{EF3978AF-27D7-4A98-BE05-F64B7504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2" name="slide-1-page">
            <a:extLst xmlns:a="http://schemas.openxmlformats.org/drawingml/2006/main">
              <a:ext uri="{FF2B5EF4-FFF2-40B4-BE49-F238E27FC236}">
                <a16:creationId xmlns:a16="http://schemas.microsoft.com/office/drawing/2014/main" id="{5098F9F8-22A7-45D3-831F-1C4FAA0F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627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5C718A"/>
                </a:solidFill>
              </a:defRPr>
            </a:pPr>
            <a:r>
              <a:rPr sz="900" b="0">
                <a:solidFill>
                  <a:srgbClr val="5C718A"/>
                </a:solidFill>
              </a:rPr>
              <a:t>01 / 01</a:t>
            </a:r>
          </a:p>
        </p:txBody>
      </p:sp>
      <p:sp>
        <p:nvSpPr>
          <p:cNvPr id="3" name="s6-kicker">
            <a:extLst xmlns:a="http://schemas.openxmlformats.org/drawingml/2006/main">
              <a:ext uri="{FF2B5EF4-FFF2-40B4-BE49-F238E27FC236}">
                <a16:creationId xmlns:a16="http://schemas.microsoft.com/office/drawing/2014/main" id="{B9D2F53B-39C9-4015-9ED5-A258432B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45CB7"/>
                </a:solidFill>
              </a:defRPr>
            </a:pPr>
            <a:r>
              <a:rPr sz="900" b="1">
                <a:solidFill>
                  <a:srgbClr val="245CB7"/>
                </a:solidFill>
              </a:rPr>
              <a:t>RLinf 的 RL 增益是否超过 SimpleVLA？</a:t>
            </a:r>
          </a:p>
        </p:txBody>
      </p:sp>
      <p:sp>
        <p:nvSpPr>
          <p:cNvPr id="4" name="s6-title">
            <a:extLst xmlns:a="http://schemas.openxmlformats.org/drawingml/2006/main">
              <a:ext uri="{FF2B5EF4-FFF2-40B4-BE49-F238E27FC236}">
                <a16:creationId xmlns:a16="http://schemas.microsoft.com/office/drawing/2014/main" id="{A7A51473-6623-4F72-99D8-AD03DEDE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75" b="1">
                <a:solidFill>
                  <a:srgbClr val="13233A"/>
                </a:solidFill>
              </a:defRPr>
            </a:pPr>
            <a:r>
              <a:rPr sz="2775" b="1">
                <a:solidFill>
                  <a:srgbClr val="13233A"/>
                </a:solidFill>
              </a:rPr>
              <a:t>RLinf 的平均增幅高于 SimpleVLA</a:t>
            </a:r>
          </a:p>
        </p:txBody>
      </p:sp>
      <p:sp>
        <p:nvSpPr>
          <p:cNvPr id="5" name="s6-argument-1-rule">
            <a:extLst xmlns:a="http://schemas.openxmlformats.org/drawingml/2006/main">
              <a:ext uri="{FF2B5EF4-FFF2-40B4-BE49-F238E27FC236}">
                <a16:creationId xmlns:a16="http://schemas.microsoft.com/office/drawing/2014/main" id="{CB8B39D3-5A72-44A0-9342-A4FA2AE8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115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B7"/>
          </a:solidFill>
          <a:ln xmlns:a="http://schemas.openxmlformats.org/drawingml/2006/main" w="0">
            <a:solidFill>
              <a:srgbClr val="245CB7"/>
            </a:solidFill>
            <a:prstDash val="solid"/>
          </a:ln>
        </p:spPr>
      </p:sp>
      <p:sp>
        <p:nvSpPr>
          <p:cNvPr id="6" name="s6-argument-1-label">
            <a:extLst xmlns:a="http://schemas.openxmlformats.org/drawingml/2006/main">
              <a:ext uri="{FF2B5EF4-FFF2-40B4-BE49-F238E27FC236}">
                <a16:creationId xmlns:a16="http://schemas.microsoft.com/office/drawing/2014/main" id="{985C6FBF-EB93-49E4-8824-E3D411AE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11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45CB7"/>
                </a:solidFill>
              </a:defRPr>
            </a:pPr>
            <a:r>
              <a:rPr sz="900" b="1">
                <a:solidFill>
                  <a:srgbClr val="245CB7"/>
                </a:solidFill>
              </a:rPr>
              <a:t>RLinf</a:t>
            </a:r>
          </a:p>
        </p:txBody>
      </p:sp>
      <p:sp>
        <p:nvSpPr>
          <p:cNvPr id="7" name="s6-argument-1-headline">
            <a:extLst xmlns:a="http://schemas.openxmlformats.org/drawingml/2006/main">
              <a:ext uri="{FF2B5EF4-FFF2-40B4-BE49-F238E27FC236}">
                <a16:creationId xmlns:a16="http://schemas.microsoft.com/office/drawing/2014/main" id="{878C70AE-66DE-4625-AD4D-656952C9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5924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3233A"/>
                </a:solidFill>
              </a:defRPr>
            </a:pPr>
            <a:r>
              <a:rPr sz="2550" b="1">
                <a:solidFill>
                  <a:srgbClr val="13233A"/>
                </a:solidFill>
              </a:rPr>
              <a:t>24.48% → 84.63%</a:t>
            </a:r>
          </a:p>
        </p:txBody>
      </p:sp>
      <p:sp>
        <p:nvSpPr>
          <p:cNvPr id="8" name="s6-argument-1-point-1">
            <a:extLst xmlns:a="http://schemas.openxmlformats.org/drawingml/2006/main">
              <a:ext uri="{FF2B5EF4-FFF2-40B4-BE49-F238E27FC236}">
                <a16:creationId xmlns:a16="http://schemas.microsoft.com/office/drawing/2014/main" id="{7101E0D4-ECEB-475B-8C41-B370A39E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886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718A"/>
                </a:solidFill>
              </a:defRPr>
            </a:pPr>
            <a:r>
              <a:rPr sz="1200" b="0">
                <a:solidFill>
                  <a:srgbClr val="5C718A"/>
                </a:solidFill>
              </a:rPr>
              <a:t>→ 平均提升 +60.15 个百分点</a:t>
            </a:r>
          </a:p>
        </p:txBody>
      </p:sp>
      <p:sp>
        <p:nvSpPr>
          <p:cNvPr id="9" name="s6-argument-1-point-2">
            <a:extLst xmlns:a="http://schemas.openxmlformats.org/drawingml/2006/main">
              <a:ext uri="{FF2B5EF4-FFF2-40B4-BE49-F238E27FC236}">
                <a16:creationId xmlns:a16="http://schemas.microsoft.com/office/drawing/2014/main" id="{A75ED669-CA82-4AE3-8685-6934C9A6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5886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718A"/>
                </a:solidFill>
              </a:defRPr>
            </a:pPr>
            <a:r>
              <a:rPr sz="1200" b="0">
                <a:solidFill>
                  <a:srgbClr val="5C718A"/>
                </a:solidFill>
              </a:rPr>
              <a:t>→ 完整训练系统的平均变化更大</a:t>
            </a:r>
          </a:p>
        </p:txBody>
      </p:sp>
      <p:sp>
        <p:nvSpPr>
          <p:cNvPr id="10" name="s6-argument-2-rule">
            <a:extLst xmlns:a="http://schemas.openxmlformats.org/drawingml/2006/main">
              <a:ext uri="{FF2B5EF4-FFF2-40B4-BE49-F238E27FC236}">
                <a16:creationId xmlns:a16="http://schemas.microsoft.com/office/drawing/2014/main" id="{B2741C7E-DE96-4653-B13B-E99B629F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24100"/>
            <a:ext cx="451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B7"/>
          </a:solidFill>
          <a:ln xmlns:a="http://schemas.openxmlformats.org/drawingml/2006/main" w="0">
            <a:solidFill>
              <a:srgbClr val="245CB7"/>
            </a:solidFill>
            <a:prstDash val="solid"/>
          </a:ln>
        </p:spPr>
      </p:sp>
      <p:sp>
        <p:nvSpPr>
          <p:cNvPr id="11" name="s6-argument-2-label">
            <a:extLst xmlns:a="http://schemas.openxmlformats.org/drawingml/2006/main">
              <a:ext uri="{FF2B5EF4-FFF2-40B4-BE49-F238E27FC236}">
                <a16:creationId xmlns:a16="http://schemas.microsoft.com/office/drawing/2014/main" id="{DA1DB52F-1A20-4B1C-9210-D26C5211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71750"/>
            <a:ext cx="451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45CB7"/>
                </a:solidFill>
              </a:defRPr>
            </a:pPr>
            <a:r>
              <a:rPr sz="900" b="1">
                <a:solidFill>
                  <a:srgbClr val="245CB7"/>
                </a:solidFill>
              </a:rPr>
              <a:t>SimpleVLA</a:t>
            </a:r>
          </a:p>
        </p:txBody>
      </p:sp>
      <p:sp>
        <p:nvSpPr>
          <p:cNvPr id="12" name="s6-argument-2-headline">
            <a:extLst xmlns:a="http://schemas.openxmlformats.org/drawingml/2006/main">
              <a:ext uri="{FF2B5EF4-FFF2-40B4-BE49-F238E27FC236}">
                <a16:creationId xmlns:a16="http://schemas.microsoft.com/office/drawing/2014/main" id="{917F9982-D529-4699-B024-17CE2D1E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90850"/>
            <a:ext cx="4324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00" b="1">
                <a:solidFill>
                  <a:srgbClr val="13233A"/>
                </a:solidFill>
              </a:defRPr>
            </a:pPr>
            <a:r>
              <a:rPr sz="2100" b="1">
                <a:solidFill>
                  <a:srgbClr val="13233A"/>
                </a:solidFill>
              </a:rPr>
              <a:t>34.40% → 72.18%</a:t>
            </a:r>
          </a:p>
        </p:txBody>
      </p:sp>
      <p:sp>
        <p:nvSpPr>
          <p:cNvPr id="13" name="s6-argument-2-point-1">
            <a:extLst xmlns:a="http://schemas.openxmlformats.org/drawingml/2006/main">
              <a:ext uri="{FF2B5EF4-FFF2-40B4-BE49-F238E27FC236}">
                <a16:creationId xmlns:a16="http://schemas.microsoft.com/office/drawing/2014/main" id="{5C9EA31E-A7B0-4925-ABF5-6AFC1756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386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718A"/>
                </a:solidFill>
              </a:defRPr>
            </a:pPr>
            <a:r>
              <a:rPr sz="1200" b="0">
                <a:solidFill>
                  <a:srgbClr val="5C718A"/>
                </a:solidFill>
              </a:rPr>
              <a:t>→ 平均提升 +37.78 个百分点</a:t>
            </a:r>
          </a:p>
        </p:txBody>
      </p:sp>
      <p:sp>
        <p:nvSpPr>
          <p:cNvPr id="14" name="s6-argument-2-point-2">
            <a:extLst xmlns:a="http://schemas.openxmlformats.org/drawingml/2006/main">
              <a:ext uri="{FF2B5EF4-FFF2-40B4-BE49-F238E27FC236}">
                <a16:creationId xmlns:a16="http://schemas.microsoft.com/office/drawing/2014/main" id="{B748A640-A62F-450A-8136-8D98C1FC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529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718A"/>
                </a:solidFill>
              </a:defRPr>
            </a:pPr>
            <a:r>
              <a:rPr sz="1200" b="0">
                <a:solidFill>
                  <a:srgbClr val="5C718A"/>
                </a:solidFill>
              </a:rPr>
              <a:t>→ 作为完整系统对照，而非单变量基线</a:t>
            </a:r>
          </a:p>
        </p:txBody>
      </p:sp>
      <p:sp>
        <p:nvSpPr>
          <p:cNvPr id="15" name="s6-argument-divider">
            <a:extLst xmlns:a="http://schemas.openxmlformats.org/drawingml/2006/main">
              <a:ext uri="{FF2B5EF4-FFF2-40B4-BE49-F238E27FC236}">
                <a16:creationId xmlns:a16="http://schemas.microsoft.com/office/drawing/2014/main" id="{B78628D2-6B57-4A1B-AC8D-3E6AF499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24100"/>
            <a:ext cx="9525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3"/>
          </a:solidFill>
          <a:ln xmlns:a="http://schemas.openxmlformats.org/drawingml/2006/main" w="0">
            <a:solidFill>
              <a:srgbClr val="C9D5E3"/>
            </a:solidFill>
            <a:prstDash val="solid"/>
          </a:ln>
        </p:spPr>
      </p:sp>
      <p:sp>
        <p:nvSpPr>
          <p:cNvPr id="16" name="s6-implication-label">
            <a:extLst xmlns:a="http://schemas.openxmlformats.org/drawingml/2006/main">
              <a:ext uri="{FF2B5EF4-FFF2-40B4-BE49-F238E27FC236}">
                <a16:creationId xmlns:a16="http://schemas.microsoft.com/office/drawing/2014/main" id="{393D196C-A0FD-4291-8120-0132A323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245CB7"/>
                </a:solidFill>
              </a:defRPr>
            </a:pPr>
            <a:r>
              <a:rPr sz="825" b="1">
                <a:solidFill>
                  <a:srgbClr val="245CB7"/>
                </a:solidFill>
              </a:rPr>
              <a:t>一句话判断</a:t>
            </a:r>
          </a:p>
        </p:txBody>
      </p:sp>
      <p:sp>
        <p:nvSpPr>
          <p:cNvPr id="17" name="s6-implication">
            <a:extLst xmlns:a="http://schemas.openxmlformats.org/drawingml/2006/main">
              <a:ext uri="{FF2B5EF4-FFF2-40B4-BE49-F238E27FC236}">
                <a16:creationId xmlns:a16="http://schemas.microsoft.com/office/drawing/2014/main" id="{78F59056-D550-4E5A-99C3-7AEF2A83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959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3233A"/>
                </a:solidFill>
              </a:defRPr>
            </a:pPr>
            <a:r>
              <a:rPr sz="1425" b="1">
                <a:solidFill>
                  <a:srgbClr val="13233A"/>
                </a:solidFill>
              </a:rPr>
              <a:t>RLinf 的平均 RL 增幅更大，但证据指向的是系统级效果，而不是某个实现因素的独立贡献。</a:t>
            </a:r>
          </a:p>
        </p:txBody>
      </p:sp>
    </p:spTree>
    <p:extLst>
      <p:ext uri="{BB962C8B-B14F-4D97-AF65-F5344CB8AC3E}">
        <p14:creationId xmlns:p14="http://schemas.microsoft.com/office/powerpoint/2010/main" val="15012454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2026-07-30T15:20:05.5220000Z</dcterms:created>
  <dcterms:modified xsi:type="dcterms:W3CDTF">2026-07-30T15:20:05.5220000Z</dcterms:modified>
</coreProperties>
</file>