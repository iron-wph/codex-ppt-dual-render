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f9fa6b9429402c" /><Relationship Type="http://schemas.openxmlformats.org/officeDocument/2006/relationships/extended-properties" Target="/docProps/app.xml" Id="R562ecf0cbd4f4cf4" /><Relationship Type="http://schemas.openxmlformats.org/officeDocument/2006/relationships/officeDocument" Target="/ppt/presentation.xml" Id="Rb45769737ec747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17f016f1e34da5"/>
  </p:sldMasterIdLst>
  <p:notesMasterIdLst>
    <p:notesMasterId xmlns:r="http://schemas.openxmlformats.org/officeDocument/2006/relationships" r:id="R57706960444841f9"/>
  </p:notesMasterIdLst>
  <p:sldIdLst>
    <p:sldId xmlns:r="http://schemas.openxmlformats.org/officeDocument/2006/relationships" id="256" r:id="R3cf610f179434d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1fcc119cd34967" /><Relationship Type="http://schemas.openxmlformats.org/officeDocument/2006/relationships/slideMaster" Target="/ppt/slideMasters/slideMaster1.xml" Id="R4f17f016f1e34da5" /><Relationship Type="http://schemas.openxmlformats.org/officeDocument/2006/relationships/notesMaster" Target="/ppt/notesMasters/notesMaster1.xml" Id="R57706960444841f9" /><Relationship Type="http://schemas.openxmlformats.org/officeDocument/2006/relationships/presProps" Target="/ppt/presProps.xml" Id="R20f35194c4d84f3e" /><Relationship Type="http://schemas.openxmlformats.org/officeDocument/2006/relationships/tableStyles" Target="/ppt/tableStyles.xml" Id="R3c94ee7dc15645c5" /><Relationship Type="http://schemas.openxmlformats.org/officeDocument/2006/relationships/slide" Target="/ppt/slides/slide1.xml" Id="R3cf610f179434d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c508e32c744e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7778bd38cb412b" /><Relationship Type="http://schemas.openxmlformats.org/officeDocument/2006/relationships/notesMaster" Target="/ppt/notesMasters/notesMaster1.xml" Id="R5232b56bea7647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在可比性边界明确后，先看 RLinf 自身是否稳定地产生收益。8 个 RoboTwin 任务里，RLinf RL 的 train SSR 全部高于 SFT，平均从 24.48% 升到 84.63%，提升 60.15 个百分点。任务级结果还显示，增益幅度从 18.75 到 85.94 不等，训练步数从 30 到 240，因此结果强度不能脱离训练成本与配置口径。这里证明的是 RLinf 自身有效，下一页再比较两套系统。</a:t>
            </a:r>
          </a:p>
          <a:p xmlns:a="http://schemas.openxmlformats.org/drawingml/2006/main">
            <a:r>
              <a:t>讲述提示：先强调 24.48%→84.63% 和 8/8，再指向任务级差异与训练步数。</a:t>
            </a:r>
          </a:p>
          <a:p xmlns:a="http://schemas.openxmlformats.org/drawingml/2006/main">
            <a:r>
              <a:t>[Sources] p5-table-1 · p6-table-1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079cd857742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b313acf0db4994" /><Relationship Type="http://schemas.openxmlformats.org/officeDocument/2006/relationships/slideLayout" Target="/ppt/slideLayouts/slideLayout1.xml" Id="R9cd22f2f5f3145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d22f2f5f3145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eccba02574c21" /><Relationship Type="http://schemas.openxmlformats.org/officeDocument/2006/relationships/notesSlide" Target="/ppt/notesSlides/notesSlide1.xml" Id="R1409ca77cddd43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C33918BE-00A8-47E7-827C-C0313305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F94E1FCF-A929-4AB6-B404-35DA6D2F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01 / 01</a:t>
            </a:r>
          </a:p>
        </p:txBody>
      </p:sp>
      <p:sp>
        <p:nvSpPr>
          <p:cNvPr id="3" name="s5-kicker">
            <a:extLst xmlns:a="http://schemas.openxmlformats.org/drawingml/2006/main">
              <a:ext uri="{FF2B5EF4-FFF2-40B4-BE49-F238E27FC236}">
                <a16:creationId xmlns:a16="http://schemas.microsoft.com/office/drawing/2014/main" id="{F2B80AF8-86B0-4922-8962-85F517DE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45CB7"/>
                </a:solidFill>
              </a:defRPr>
            </a:pPr>
            <a:r>
              <a:rPr sz="975" b="1">
                <a:solidFill>
                  <a:srgbClr val="245CB7"/>
                </a:solidFill>
              </a:rPr>
              <a:t>RESULT FOCUS</a:t>
            </a:r>
          </a:p>
        </p:txBody>
      </p:sp>
      <p:sp>
        <p:nvSpPr>
          <p:cNvPr id="4" name="s5-title">
            <a:extLst xmlns:a="http://schemas.openxmlformats.org/drawingml/2006/main">
              <a:ext uri="{FF2B5EF4-FFF2-40B4-BE49-F238E27FC236}">
                <a16:creationId xmlns:a16="http://schemas.microsoft.com/office/drawing/2014/main" id="{32C3D3BB-F30D-4088-B17E-A8054CB0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75" b="1">
                <a:solidFill>
                  <a:srgbClr val="13233A"/>
                </a:solidFill>
              </a:defRPr>
            </a:pPr>
            <a:r>
              <a:rPr sz="2775" b="1">
                <a:solidFill>
                  <a:srgbClr val="13233A"/>
                </a:solidFill>
              </a:rPr>
              <a:t>8/8 任务提升，平均 SSR 显著上升</a:t>
            </a:r>
          </a:p>
        </p:txBody>
      </p:sp>
      <p:sp>
        <p:nvSpPr>
          <p:cNvPr id="5" name="s5-chart-bg">
            <a:extLst xmlns:a="http://schemas.openxmlformats.org/drawingml/2006/main">
              <a:ext uri="{FF2B5EF4-FFF2-40B4-BE49-F238E27FC236}">
                <a16:creationId xmlns:a16="http://schemas.microsoft.com/office/drawing/2014/main" id="{B8F874D1-6DFF-4A84-B0E2-8255E21D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972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914400" y="2571750"/>
          <a:ext xmlns:a="http://schemas.openxmlformats.org/drawingml/2006/main" cx="6515100" cy="2381250"/>
        </p:xfrm>
        <a:graphic xmlns:a="http://schemas.openxmlformats.org/drawingml/2006/main">
          <a:graphicData uri="http://schemas.openxmlformats.org/drawingml/2006/table">
            <a:tbl>
              <a:tblPr firstRow="1" firstCol="1" bandRow="0"/>
              <a:tblGrid>
                <a:gridCol w="814388"/>
                <a:gridCol w="814388"/>
                <a:gridCol w="814388"/>
                <a:gridCol w="814388"/>
                <a:gridCol w="814388"/>
                <a:gridCol w="814388"/>
                <a:gridCol w="814388"/>
                <a:gridCol w="814388"/>
              </a:tblGrid>
              <a:tr h="2645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Task​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RLinf SFT​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RLinf RL​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Avg improvement​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train step​ RLinf 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Simple SFT​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Simple RL​ 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train step​ Simple​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</a:tr>
              <a:tr h="26458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place_empty_cup​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75.78%​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94.53%​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18.75​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40​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77.3%​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94.2%​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20​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458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beat_block_hammer​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10.15%​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96.09%​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85.94​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200​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28.1%​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87.5%​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40​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458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pick_dual_bottles​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20.31%​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92.96%​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72.65​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240​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29.7%​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68.3%​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100​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458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move_can_pot​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9.37%​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83.59%​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74.22​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160​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28.1%​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61.2%​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50​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458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lift_pot​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3.13%​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70.31%​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67.18​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30​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10.1%​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64.1%​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40​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458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stack_bowls_two​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38.28%​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67.19%​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28.91​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150​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40.6%​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75.8%​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80​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458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handover_block​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28.13%​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70.31%​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42.18​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150​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33.1%​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57.8%​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40​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6458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place_container_plat e​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54.69%​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95.31%​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40.62​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50​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5-callout-bg">
            <a:extLst xmlns:a="http://schemas.openxmlformats.org/drawingml/2006/main">
              <a:ext uri="{FF2B5EF4-FFF2-40B4-BE49-F238E27FC236}">
                <a16:creationId xmlns:a16="http://schemas.microsoft.com/office/drawing/2014/main" id="{FC71CA65-D723-475A-9E8D-D5D69F89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8" name="s5-callout-label">
            <a:extLst xmlns:a="http://schemas.openxmlformats.org/drawingml/2006/main">
              <a:ext uri="{FF2B5EF4-FFF2-40B4-BE49-F238E27FC236}">
                <a16:creationId xmlns:a16="http://schemas.microsoft.com/office/drawing/2014/main" id="{3DFE8DB2-58E5-4D25-9885-1A3F5465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核心结果</a:t>
            </a:r>
          </a:p>
        </p:txBody>
      </p:sp>
      <p:sp>
        <p:nvSpPr>
          <p:cNvPr id="9" name="s5-callout-value">
            <a:extLst xmlns:a="http://schemas.openxmlformats.org/drawingml/2006/main">
              <a:ext uri="{FF2B5EF4-FFF2-40B4-BE49-F238E27FC236}">
                <a16:creationId xmlns:a16="http://schemas.microsoft.com/office/drawing/2014/main" id="{7990808C-0DEB-4E36-9DA5-12D676E7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2971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2325" b="1">
                <a:solidFill>
                  <a:srgbClr val="13233A"/>
                </a:solidFill>
              </a:defRPr>
            </a:pPr>
            <a:r>
              <a:rPr sz="2325" b="1">
                <a:solidFill>
                  <a:srgbClr val="13233A"/>
                </a:solidFill>
              </a:rPr>
              <a:t>8/8 任务提升；24.48%→84.63%；平均提升 +60.15 个百分点</a:t>
            </a:r>
          </a:p>
        </p:txBody>
      </p:sp>
      <p:sp>
        <p:nvSpPr>
          <p:cNvPr id="10" name="s5-callout-detail">
            <a:extLst xmlns:a="http://schemas.openxmlformats.org/drawingml/2006/main">
              <a:ext uri="{FF2B5EF4-FFF2-40B4-BE49-F238E27FC236}">
                <a16:creationId xmlns:a16="http://schemas.microsoft.com/office/drawing/2014/main" id="{B3D72134-5B03-4096-BA78-CCE6260A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960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8 个 RoboTwin 任务的 RLinf RL train SSR 均高于 RLinf S…</a:t>
            </a:r>
          </a:p>
        </p:txBody>
      </p:sp>
    </p:spTree>
    <p:extLst>
      <p:ext uri="{BB962C8B-B14F-4D97-AF65-F5344CB8AC3E}">
        <p14:creationId xmlns:p14="http://schemas.microsoft.com/office/powerpoint/2010/main" val="1693965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2026-07-30T15:20:03.0060000Z</dcterms:created>
  <dcterms:modified xsi:type="dcterms:W3CDTF">2026-07-30T15:20:03.0060000Z</dcterms:modified>
</coreProperties>
</file>