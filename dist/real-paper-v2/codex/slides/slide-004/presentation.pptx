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41ab3a345f4223" /><Relationship Type="http://schemas.openxmlformats.org/officeDocument/2006/relationships/extended-properties" Target="/docProps/app.xml" Id="R905be97a4c9546f4" /><Relationship Type="http://schemas.openxmlformats.org/officeDocument/2006/relationships/officeDocument" Target="/ppt/presentation.xml" Id="R50b9e8df38e24b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ebb48e0739462b"/>
  </p:sldMasterIdLst>
  <p:notesMasterIdLst>
    <p:notesMasterId xmlns:r="http://schemas.openxmlformats.org/officeDocument/2006/relationships" r:id="R3bf85388c07048c5"/>
  </p:notesMasterIdLst>
  <p:sldIdLst>
    <p:sldId xmlns:r="http://schemas.openxmlformats.org/officeDocument/2006/relationships" id="256" r:id="R4c13060976f345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0cf873400343cc" /><Relationship Type="http://schemas.openxmlformats.org/officeDocument/2006/relationships/slideMaster" Target="/ppt/slideMasters/slideMaster1.xml" Id="Rd0ebb48e0739462b" /><Relationship Type="http://schemas.openxmlformats.org/officeDocument/2006/relationships/notesMaster" Target="/ppt/notesMasters/notesMaster1.xml" Id="R3bf85388c07048c5" /><Relationship Type="http://schemas.openxmlformats.org/officeDocument/2006/relationships/presProps" Target="/ppt/presProps.xml" Id="R660dc21b723d4b5a" /><Relationship Type="http://schemas.openxmlformats.org/officeDocument/2006/relationships/tableStyles" Target="/ppt/tableStyles.xml" Id="R0a8066258f5949c0" /><Relationship Type="http://schemas.openxmlformats.org/officeDocument/2006/relationships/slide" Target="/ppt/slides/slide1.xml" Id="R4c13060976f345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e54c99eb0a4d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51b888a8e64365" /><Relationship Type="http://schemas.openxmlformats.org/officeDocument/2006/relationships/notesMaster" Target="/ppt/notesMasters/notesMaster1.xml" Id="Re908facf06ec49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这里把公平比较拆成可检查的变量。两套实现共享 SFT 模型、train/eval seeds、模型实现和 GRPO，因此有共同起点；但 RLinf 与 SimpleVLA 在精度、rollout batch、学习率和 LoRA 上不同。更关键的是，valid trajectory 的收集时机和 reward 粒度也不同，会改变每次更新接收到的有效样本与学习信号。因此后面的结果可以作为系统级比较，但不能单独归因于某一个算法组件。</a:t>
            </a:r>
          </a:p>
          <a:p xmlns:a="http://schemas.openxmlformats.org/drawingml/2006/main">
            <a:r>
              <a:t>讲述提示：先读共同基础，再按表格行读取六项差异，最后明确系统级解释边界。</a:t>
            </a:r>
          </a:p>
          <a:p xmlns:a="http://schemas.openxmlformats.org/drawingml/2006/main">
            <a:r>
              <a:t>[Sources] p4-table-1-crop · p5-table-1-crop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929451c1a42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1c421d849c4070" /><Relationship Type="http://schemas.openxmlformats.org/officeDocument/2006/relationships/slideLayout" Target="/ppt/slideLayouts/slideLayout1.xml" Id="R14758573adbe46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758573adbe46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a3b147b6d438f" /><Relationship Type="http://schemas.openxmlformats.org/officeDocument/2006/relationships/notesSlide" Target="/ppt/notesSlides/notesSlide1.xml" Id="R1ed0f7515c2c42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1-top-rule">
            <a:extLst xmlns:a="http://schemas.openxmlformats.org/drawingml/2006/main">
              <a:ext uri="{FF2B5EF4-FFF2-40B4-BE49-F238E27FC236}">
                <a16:creationId xmlns:a16="http://schemas.microsoft.com/office/drawing/2014/main" id="{9F556AAA-BBB2-463E-8BE4-8B2D458A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F4907E33-8B11-45A1-A7AD-F58605FE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01 / 01</a:t>
            </a:r>
          </a:p>
        </p:txBody>
      </p:sp>
      <p:sp>
        <p:nvSpPr>
          <p:cNvPr id="3" name="s4-kicker">
            <a:extLst xmlns:a="http://schemas.openxmlformats.org/drawingml/2006/main">
              <a:ext uri="{FF2B5EF4-FFF2-40B4-BE49-F238E27FC236}">
                <a16:creationId xmlns:a16="http://schemas.microsoft.com/office/drawing/2014/main" id="{7C0908F0-8B95-4ABF-9459-8B964A92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45CB7"/>
                </a:solidFill>
              </a:defRPr>
            </a:pPr>
            <a:r>
              <a:rPr sz="975" b="1">
                <a:solidFill>
                  <a:srgbClr val="245CB7"/>
                </a:solidFill>
              </a:rPr>
              <a:t>PAPER EVIDENCE</a:t>
            </a:r>
          </a:p>
        </p:txBody>
      </p:sp>
      <p:sp>
        <p:nvSpPr>
          <p:cNvPr id="4" name="s4-title">
            <a:extLst xmlns:a="http://schemas.openxmlformats.org/drawingml/2006/main">
              <a:ext uri="{FF2B5EF4-FFF2-40B4-BE49-F238E27FC236}">
                <a16:creationId xmlns:a16="http://schemas.microsoft.com/office/drawing/2014/main" id="{1A5F086B-F354-4BE4-9F88-88E5758B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75" b="1">
                <a:solidFill>
                  <a:srgbClr val="13233A"/>
                </a:solidFill>
              </a:defRPr>
            </a:pPr>
            <a:r>
              <a:rPr sz="2775" b="1">
                <a:solidFill>
                  <a:srgbClr val="13233A"/>
                </a:solidFill>
              </a:rPr>
              <a:t>共享基础，但不是同构训练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76300" y="2247900"/>
          <a:ext xmlns:a="http://schemas.openxmlformats.org/drawingml/2006/main" cx="9906000" cy="3333750"/>
        </p:xfrm>
        <a:graphic xmlns:a="http://schemas.openxmlformats.org/drawingml/2006/main">
          <a:graphicData uri="http://schemas.openxmlformats.org/drawingml/2006/table">
            <a:tbl>
              <a:tblPr firstRow="1" firstCol="1" bandRow="0"/>
              <a:tblGrid>
                <a:gridCol w="4953000"/>
                <a:gridCol w="4953000"/>
              </a:tblGrid>
              <a:tr h="33337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58 59 60 61 62 63 64 65 66 67 68 69 70 71 72 73 74 75 76 77 78 79 80 81 82 83 84 85 86 87 88 89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clip_ratio_low: 0.2​ clip_ratio_c: 3.0​ value_clip: 0.2​ huber_delta: 10.0​ gamma: 1.0​ gae_lambda: 0.95​ reward_coef: 5.0​ filter_rewards: True​ rewards_lower_bound: 0.5​ rewards_upper_bound: 4.5​ # params for rollout​ sampling_params:​ do_sample: True​ temperature_train: 1.6​ temperature_eval: 1.6​ top_k: -1​ top_p: 1.0​ repetition_penalty: 1.0​ # length argument for autoregressive sampling​ # max length means max amount of tokens to generate​ length_params:​ max_new_token: null​ max_length: 1024​ min_length: 1​ env:​ group_name: "EnvGroup"​ enable_offload: True​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</a:tr>
            </a:tbl>
          </a:graphicData>
        </a:graphic>
      </p:graphicFrame>
      <p:sp>
        <p:nvSpPr>
          <p:cNvPr id="6" name="s4-caption">
            <a:extLst xmlns:a="http://schemas.openxmlformats.org/drawingml/2006/main">
              <a:ext uri="{FF2B5EF4-FFF2-40B4-BE49-F238E27FC236}">
                <a16:creationId xmlns:a16="http://schemas.microsoft.com/office/drawing/2014/main" id="{F0C425AE-9131-4627-BC7E-E132BB9A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5C718A"/>
                </a:solidFill>
              </a:defRPr>
            </a:pPr>
            <a:r>
              <a:rPr sz="825" b="0">
                <a:solidFill>
                  <a:srgbClr val="5C718A"/>
                </a:solidFill>
              </a:rPr>
              <a:t>Paper table region on page 4</a:t>
            </a:r>
          </a:p>
        </p:txBody>
      </p:sp>
    </p:spTree>
    <p:extLst>
      <p:ext uri="{BB962C8B-B14F-4D97-AF65-F5344CB8AC3E}">
        <p14:creationId xmlns:p14="http://schemas.microsoft.com/office/powerpoint/2010/main" val="9024146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2026-07-30T15:20:00.7540000Z</dcterms:created>
  <dcterms:modified xsi:type="dcterms:W3CDTF">2026-07-30T15:20:00.7540000Z</dcterms:modified>
</coreProperties>
</file>