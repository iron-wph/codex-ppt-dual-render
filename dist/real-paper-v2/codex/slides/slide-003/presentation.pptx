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96b5e1ed764d2a" /><Relationship Type="http://schemas.openxmlformats.org/officeDocument/2006/relationships/extended-properties" Target="/docProps/app.xml" Id="R9436a30344dd415b" /><Relationship Type="http://schemas.openxmlformats.org/officeDocument/2006/relationships/officeDocument" Target="/ppt/presentation.xml" Id="R40c96f54bfda4e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ba2f7846554268"/>
  </p:sldMasterIdLst>
  <p:notesMasterIdLst>
    <p:notesMasterId xmlns:r="http://schemas.openxmlformats.org/officeDocument/2006/relationships" r:id="Rd1c766fc0f8e4754"/>
  </p:notesMasterIdLst>
  <p:sldIdLst>
    <p:sldId xmlns:r="http://schemas.openxmlformats.org/officeDocument/2006/relationships" id="256" r:id="R0c537061463047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1d739b5c404101" /><Relationship Type="http://schemas.openxmlformats.org/officeDocument/2006/relationships/slideMaster" Target="/ppt/slideMasters/slideMaster1.xml" Id="Rd5ba2f7846554268" /><Relationship Type="http://schemas.openxmlformats.org/officeDocument/2006/relationships/notesMaster" Target="/ppt/notesMasters/notesMaster1.xml" Id="Rd1c766fc0f8e4754" /><Relationship Type="http://schemas.openxmlformats.org/officeDocument/2006/relationships/presProps" Target="/ppt/presProps.xml" Id="R57190e0e10534c5d" /><Relationship Type="http://schemas.openxmlformats.org/officeDocument/2006/relationships/tableStyles" Target="/ppt/tableStyles.xml" Id="Rdd3b0fe40b4b456b" /><Relationship Type="http://schemas.openxmlformats.org/officeDocument/2006/relationships/slide" Target="/ppt/slides/slide1.xml" Id="R0c537061463047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fc4a66644f4d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68b89e2b6347ef" /><Relationship Type="http://schemas.openxmlformats.org/officeDocument/2006/relationships/notesMaster" Target="/ppt/notesMasters/notesMaster1.xml" Id="R09fe93a83b9041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实验契约说明评价什么，这一页补上 RLinf 如何学习。一次更新先按 128×8 组织出 1,024 条 rollout，并以 group size 8 形成比较单元；奖励落在 action level，logprob 与 entropy 保持 token level，再用 GRPO 计算优势并更新 actor。最后通过 LoRA 和 2.0e-4 学习率限定更新方式。配置说明的是完整训练配方，下一页继续核对它与 SimpleVLA 的差异。</a:t>
            </a:r>
          </a:p>
          <a:p xmlns:a="http://schemas.openxmlformats.org/drawingml/2006/main">
            <a:r>
              <a:t>讲述提示：沿五个节点从左到右阅读，最后停在 LoRA 更新，并强调这是完整路径。</a:t>
            </a:r>
          </a:p>
          <a:p xmlns:a="http://schemas.openxmlformats.org/drawingml/2006/main">
            <a:r>
              <a:t>[Sources] p4-snapshot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8ecfee0d2444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ea4faef4f84d6c" /><Relationship Type="http://schemas.openxmlformats.org/officeDocument/2006/relationships/slideLayout" Target="/ppt/slideLayouts/slideLayout1.xml" Id="Rcdd78fa6e56243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d78fa6e56243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a04b8ddf945d8" /><Relationship Type="http://schemas.openxmlformats.org/officeDocument/2006/relationships/notesSlide" Target="/ppt/notesSlides/notesSlide1.xml" Id="Rc83c5e3837364c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1-top-rule">
            <a:extLst xmlns:a="http://schemas.openxmlformats.org/drawingml/2006/main">
              <a:ext uri="{FF2B5EF4-FFF2-40B4-BE49-F238E27FC236}">
                <a16:creationId xmlns:a16="http://schemas.microsoft.com/office/drawing/2014/main" id="{55FBD44D-CF8F-4EB5-9B1A-22C37484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C149E643-A41F-47DF-A962-4D2F6E66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01 / 01</a:t>
            </a:r>
          </a:p>
        </p:txBody>
      </p:sp>
      <p:sp>
        <p:nvSpPr>
          <p:cNvPr id="3" name="s3-kicker">
            <a:extLst xmlns:a="http://schemas.openxmlformats.org/drawingml/2006/main">
              <a:ext uri="{FF2B5EF4-FFF2-40B4-BE49-F238E27FC236}">
                <a16:creationId xmlns:a16="http://schemas.microsoft.com/office/drawing/2014/main" id="{1DDAAD4C-7C63-4A09-BB96-B38E70AF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45CB7"/>
                </a:solidFill>
              </a:defRPr>
            </a:pPr>
            <a:r>
              <a:rPr sz="975" b="1">
                <a:solidFill>
                  <a:srgbClr val="245CB7"/>
                </a:solidFill>
              </a:rPr>
              <a:t>THE PIPELINE</a:t>
            </a:r>
          </a:p>
        </p:txBody>
      </p:sp>
      <p:sp>
        <p:nvSpPr>
          <p:cNvPr id="4" name="s3-title">
            <a:extLst xmlns:a="http://schemas.openxmlformats.org/drawingml/2006/main">
              <a:ext uri="{FF2B5EF4-FFF2-40B4-BE49-F238E27FC236}">
                <a16:creationId xmlns:a16="http://schemas.microsoft.com/office/drawing/2014/main" id="{1993074A-C6B3-48D5-BFDA-7C12F3E9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28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75" b="1">
                <a:solidFill>
                  <a:srgbClr val="13233A"/>
                </a:solidFill>
              </a:defRPr>
            </a:pPr>
            <a:r>
              <a:rPr sz="2775" b="1">
                <a:solidFill>
                  <a:srgbClr val="13233A"/>
                </a:solidFill>
              </a:rPr>
              <a:t>RLinf 的训练信号来自一条完整链路</a:t>
            </a:r>
          </a:p>
        </p:txBody>
      </p:sp>
      <p:sp>
        <p:nvSpPr>
          <p:cNvPr id="5" name="s3-flow-axis">
            <a:extLst xmlns:a="http://schemas.openxmlformats.org/drawingml/2006/main">
              <a:ext uri="{FF2B5EF4-FFF2-40B4-BE49-F238E27FC236}">
                <a16:creationId xmlns:a16="http://schemas.microsoft.com/office/drawing/2014/main" id="{F93FE4E1-3008-4C27-8010-E4ED5B09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6" name="s3-flow-1-metric">
            <a:extLst xmlns:a="http://schemas.openxmlformats.org/drawingml/2006/main">
              <a:ext uri="{FF2B5EF4-FFF2-40B4-BE49-F238E27FC236}">
                <a16:creationId xmlns:a16="http://schemas.microsoft.com/office/drawing/2014/main" id="{A4BC7AB2-0360-4C29-A747-A9477096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02692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245CB7"/>
                </a:solidFill>
              </a:defRPr>
            </a:pPr>
            <a:r>
              <a:rPr sz="825" b="1">
                <a:solidFill>
                  <a:srgbClr val="245CB7"/>
                </a:solidFill>
              </a:rPr>
              <a:t>128 × 8 = 1024</a:t>
            </a:r>
          </a:p>
        </p:txBody>
      </p:sp>
      <p:sp>
        <p:nvSpPr>
          <p:cNvPr id="7" name="s3-flow-1-title">
            <a:extLst xmlns:a="http://schemas.openxmlformats.org/drawingml/2006/main">
              <a:ext uri="{FF2B5EF4-FFF2-40B4-BE49-F238E27FC236}">
                <a16:creationId xmlns:a16="http://schemas.microsoft.com/office/drawing/2014/main" id="{45865280-C706-4C20-8E8C-6C98236E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9507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>
                <a:solidFill>
                  <a:srgbClr val="13233A"/>
                </a:solidFill>
              </a:defRPr>
            </a:pPr>
            <a:r>
              <a:rPr sz="1875" b="1">
                <a:solidFill>
                  <a:srgbClr val="13233A"/>
                </a:solidFill>
              </a:rPr>
              <a:t>Rollout 采样</a:t>
            </a:r>
          </a:p>
        </p:txBody>
      </p:sp>
      <p:sp>
        <p:nvSpPr>
          <p:cNvPr id="8" name="s3-flow-1-dot">
            <a:extLst xmlns:a="http://schemas.openxmlformats.org/drawingml/2006/main">
              <a:ext uri="{FF2B5EF4-FFF2-40B4-BE49-F238E27FC236}">
                <a16:creationId xmlns:a16="http://schemas.microsoft.com/office/drawing/2014/main" id="{6FF644DE-938F-44B6-9D0F-B86CAD5A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CB7"/>
          </a:solidFill>
          <a:ln xmlns:a="http://schemas.openxmlformats.org/drawingml/2006/main" w="38100">
            <a:solidFill>
              <a:srgbClr val="F5F7FA"/>
            </a:solidFill>
            <a:prstDash val="solid"/>
          </a:ln>
        </p:spPr>
      </p:sp>
      <p:sp>
        <p:nvSpPr>
          <p:cNvPr id="9" name="s3-flow-1-body">
            <a:extLst xmlns:a="http://schemas.openxmlformats.org/drawingml/2006/main">
              <a:ext uri="{FF2B5EF4-FFF2-40B4-BE49-F238E27FC236}">
                <a16:creationId xmlns:a16="http://schemas.microsoft.com/office/drawing/2014/main" id="{7996350F-5579-4C25-8EF4-D6F836ED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95072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C718A"/>
                </a:solidFill>
              </a:defRPr>
            </a:pPr>
            <a:r>
              <a:rPr sz="1125" b="0">
                <a:solidFill>
                  <a:srgbClr val="5C718A"/>
                </a:solidFill>
              </a:rPr>
              <a:t>并行生成一轮轨迹，形成固定规模的训练输入。</a:t>
            </a:r>
          </a:p>
        </p:txBody>
      </p:sp>
      <p:sp>
        <p:nvSpPr>
          <p:cNvPr id="10" name="s3-flow-2-metric">
            <a:extLst xmlns:a="http://schemas.openxmlformats.org/drawingml/2006/main">
              <a:ext uri="{FF2B5EF4-FFF2-40B4-BE49-F238E27FC236}">
                <a16:creationId xmlns:a16="http://schemas.microsoft.com/office/drawing/2014/main" id="{BE20A81E-E43E-4DBB-BCBE-5CFD2033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400300"/>
            <a:ext cx="202692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245CB7"/>
                </a:solidFill>
              </a:defRPr>
            </a:pPr>
            <a:r>
              <a:rPr sz="825" b="1">
                <a:solidFill>
                  <a:srgbClr val="245CB7"/>
                </a:solidFill>
              </a:rPr>
              <a:t>group size = 8</a:t>
            </a:r>
          </a:p>
        </p:txBody>
      </p:sp>
      <p:sp>
        <p:nvSpPr>
          <p:cNvPr id="11" name="s3-flow-2-title">
            <a:extLst xmlns:a="http://schemas.openxmlformats.org/drawingml/2006/main">
              <a:ext uri="{FF2B5EF4-FFF2-40B4-BE49-F238E27FC236}">
                <a16:creationId xmlns:a16="http://schemas.microsoft.com/office/drawing/2014/main" id="{B8B9F13A-8B67-41BE-8AE2-08E3D40D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819400"/>
            <a:ext cx="19507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>
                <a:solidFill>
                  <a:srgbClr val="13233A"/>
                </a:solidFill>
              </a:defRPr>
            </a:pPr>
            <a:r>
              <a:rPr sz="1875" b="1">
                <a:solidFill>
                  <a:srgbClr val="13233A"/>
                </a:solidFill>
              </a:rPr>
              <a:t>Group 组织</a:t>
            </a:r>
          </a:p>
        </p:txBody>
      </p:sp>
      <p:sp>
        <p:nvSpPr>
          <p:cNvPr id="12" name="s3-flow-2-dot">
            <a:extLst xmlns:a="http://schemas.openxmlformats.org/drawingml/2006/main">
              <a:ext uri="{FF2B5EF4-FFF2-40B4-BE49-F238E27FC236}">
                <a16:creationId xmlns:a16="http://schemas.microsoft.com/office/drawing/2014/main" id="{8101760E-8839-4BD2-BE1B-197C9446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354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CB7"/>
          </a:solidFill>
          <a:ln xmlns:a="http://schemas.openxmlformats.org/drawingml/2006/main" w="38100">
            <a:solidFill>
              <a:srgbClr val="F5F7FA"/>
            </a:solidFill>
            <a:prstDash val="solid"/>
          </a:ln>
        </p:spPr>
      </p:sp>
      <p:sp>
        <p:nvSpPr>
          <p:cNvPr id="13" name="s3-flow-2-body">
            <a:extLst xmlns:a="http://schemas.openxmlformats.org/drawingml/2006/main">
              <a:ext uri="{FF2B5EF4-FFF2-40B4-BE49-F238E27FC236}">
                <a16:creationId xmlns:a16="http://schemas.microsoft.com/office/drawing/2014/main" id="{90F47A18-110B-4127-BBB0-F23A4B1D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4038600"/>
            <a:ext cx="195072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C718A"/>
                </a:solidFill>
              </a:defRPr>
            </a:pPr>
            <a:r>
              <a:rPr sz="1125" b="0">
                <a:solidFill>
                  <a:srgbClr val="5C718A"/>
                </a:solidFill>
              </a:rPr>
              <a:t>按 group size 8 将轨迹组成比较单元，为组内优势估计准备数据。</a:t>
            </a:r>
          </a:p>
        </p:txBody>
      </p:sp>
      <p:sp>
        <p:nvSpPr>
          <p:cNvPr id="14" name="s3-flow-3-metric">
            <a:extLst xmlns:a="http://schemas.openxmlformats.org/drawingml/2006/main">
              <a:ext uri="{FF2B5EF4-FFF2-40B4-BE49-F238E27FC236}">
                <a16:creationId xmlns:a16="http://schemas.microsoft.com/office/drawing/2014/main" id="{367B7429-C1F3-434D-BB90-4344CE35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400300"/>
            <a:ext cx="202692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D65F42"/>
                </a:solidFill>
              </a:defRPr>
            </a:pPr>
            <a:r>
              <a:rPr sz="825" b="1">
                <a:solidFill>
                  <a:srgbClr val="D65F42"/>
                </a:solidFill>
              </a:rPr>
              <a:t>reward_type = action_level</a:t>
            </a:r>
          </a:p>
        </p:txBody>
      </p:sp>
      <p:sp>
        <p:nvSpPr>
          <p:cNvPr id="15" name="s3-flow-3-title">
            <a:extLst xmlns:a="http://schemas.openxmlformats.org/drawingml/2006/main">
              <a:ext uri="{FF2B5EF4-FFF2-40B4-BE49-F238E27FC236}">
                <a16:creationId xmlns:a16="http://schemas.microsoft.com/office/drawing/2014/main" id="{9C4B59DE-DFBB-475F-B038-A61EECDF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819400"/>
            <a:ext cx="19507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>
                <a:solidFill>
                  <a:srgbClr val="13233A"/>
                </a:solidFill>
              </a:defRPr>
            </a:pPr>
            <a:r>
              <a:rPr sz="1875" b="1">
                <a:solidFill>
                  <a:srgbClr val="13233A"/>
                </a:solidFill>
              </a:rPr>
              <a:t>Action-level reward</a:t>
            </a:r>
          </a:p>
        </p:txBody>
      </p:sp>
      <p:sp>
        <p:nvSpPr>
          <p:cNvPr id="16" name="s3-flow-3-dot">
            <a:extLst xmlns:a="http://schemas.openxmlformats.org/drawingml/2006/main">
              <a:ext uri="{FF2B5EF4-FFF2-40B4-BE49-F238E27FC236}">
                <a16:creationId xmlns:a16="http://schemas.microsoft.com/office/drawing/2014/main" id="{434237DE-8D3A-475D-9EF4-A7D51251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354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F42"/>
          </a:solidFill>
          <a:ln xmlns:a="http://schemas.openxmlformats.org/drawingml/2006/main" w="38100">
            <a:solidFill>
              <a:srgbClr val="F5F7FA"/>
            </a:solidFill>
            <a:prstDash val="solid"/>
          </a:ln>
        </p:spPr>
      </p:sp>
      <p:sp>
        <p:nvSpPr>
          <p:cNvPr id="17" name="s3-flow-3-body">
            <a:extLst xmlns:a="http://schemas.openxmlformats.org/drawingml/2006/main">
              <a:ext uri="{FF2B5EF4-FFF2-40B4-BE49-F238E27FC236}">
                <a16:creationId xmlns:a16="http://schemas.microsoft.com/office/drawing/2014/main" id="{1BECE21D-9DCB-4988-BF87-3C86EE2A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4038600"/>
            <a:ext cx="195072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C718A"/>
                </a:solidFill>
              </a:defRPr>
            </a:pPr>
            <a:r>
              <a:rPr sz="1125" b="0">
                <a:solidFill>
                  <a:srgbClr val="5C718A"/>
                </a:solidFill>
              </a:rPr>
              <a:t>把任务反馈落到动作粒度，明确奖励在行为序列中的位置。</a:t>
            </a:r>
          </a:p>
        </p:txBody>
      </p:sp>
      <p:sp>
        <p:nvSpPr>
          <p:cNvPr id="18" name="s3-flow-4-metric">
            <a:extLst xmlns:a="http://schemas.openxmlformats.org/drawingml/2006/main">
              <a:ext uri="{FF2B5EF4-FFF2-40B4-BE49-F238E27FC236}">
                <a16:creationId xmlns:a16="http://schemas.microsoft.com/office/drawing/2014/main" id="{9622F112-13E4-47FE-A162-2CD7009C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400300"/>
            <a:ext cx="202692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245CB7"/>
                </a:solidFill>
              </a:defRPr>
            </a:pPr>
            <a:r>
              <a:rPr sz="825" b="1">
                <a:solidFill>
                  <a:srgbClr val="245CB7"/>
                </a:solidFill>
              </a:rPr>
              <a:t>adv_type = grpo</a:t>
            </a:r>
          </a:p>
        </p:txBody>
      </p:sp>
      <p:sp>
        <p:nvSpPr>
          <p:cNvPr id="19" name="s3-flow-4-title">
            <a:extLst xmlns:a="http://schemas.openxmlformats.org/drawingml/2006/main">
              <a:ext uri="{FF2B5EF4-FFF2-40B4-BE49-F238E27FC236}">
                <a16:creationId xmlns:a16="http://schemas.microsoft.com/office/drawing/2014/main" id="{8943AC62-C3E2-4C7E-B509-E8446750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819400"/>
            <a:ext cx="19507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>
                <a:solidFill>
                  <a:srgbClr val="13233A"/>
                </a:solidFill>
              </a:defRPr>
            </a:pPr>
            <a:r>
              <a:rPr sz="1875" b="1">
                <a:solidFill>
                  <a:srgbClr val="13233A"/>
                </a:solidFill>
              </a:rPr>
              <a:t>GRPO 优势估计</a:t>
            </a:r>
          </a:p>
        </p:txBody>
      </p:sp>
      <p:sp>
        <p:nvSpPr>
          <p:cNvPr id="20" name="s3-flow-4-dot">
            <a:extLst xmlns:a="http://schemas.openxmlformats.org/drawingml/2006/main">
              <a:ext uri="{FF2B5EF4-FFF2-40B4-BE49-F238E27FC236}">
                <a16:creationId xmlns:a16="http://schemas.microsoft.com/office/drawing/2014/main" id="{0A7A8324-8176-4F95-88A6-BD955925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354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CB7"/>
          </a:solidFill>
          <a:ln xmlns:a="http://schemas.openxmlformats.org/drawingml/2006/main" w="38100">
            <a:solidFill>
              <a:srgbClr val="F5F7FA"/>
            </a:solidFill>
            <a:prstDash val="solid"/>
          </a:ln>
        </p:spPr>
      </p:sp>
      <p:sp>
        <p:nvSpPr>
          <p:cNvPr id="21" name="s3-flow-4-body">
            <a:extLst xmlns:a="http://schemas.openxmlformats.org/drawingml/2006/main">
              <a:ext uri="{FF2B5EF4-FFF2-40B4-BE49-F238E27FC236}">
                <a16:creationId xmlns:a16="http://schemas.microsoft.com/office/drawing/2014/main" id="{874269FC-4618-46B1-90DB-5A6CD910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4038600"/>
            <a:ext cx="195072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C718A"/>
                </a:solidFill>
              </a:defRPr>
            </a:pPr>
            <a:r>
              <a:rPr sz="1125" b="0">
                <a:solidFill>
                  <a:srgbClr val="5C718A"/>
                </a:solidFill>
              </a:rPr>
              <a:t>结合 token-level logprob / entropy，计算用于 actor 更新的优势信号。</a:t>
            </a:r>
          </a:p>
        </p:txBody>
      </p:sp>
      <p:sp>
        <p:nvSpPr>
          <p:cNvPr id="22" name="s3-flow-5-metric">
            <a:extLst xmlns:a="http://schemas.openxmlformats.org/drawingml/2006/main">
              <a:ext uri="{FF2B5EF4-FFF2-40B4-BE49-F238E27FC236}">
                <a16:creationId xmlns:a16="http://schemas.microsoft.com/office/drawing/2014/main" id="{C2A69FBD-B357-4B6D-ADCC-AA79F090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400300"/>
            <a:ext cx="202692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245CB7"/>
                </a:solidFill>
              </a:defRPr>
            </a:pPr>
            <a:r>
              <a:rPr sz="825" b="1">
                <a:solidFill>
                  <a:srgbClr val="245CB7"/>
                </a:solidFill>
              </a:rPr>
              <a:t>is_lora = true · lr = 2.0e-4</a:t>
            </a:r>
          </a:p>
        </p:txBody>
      </p:sp>
      <p:sp>
        <p:nvSpPr>
          <p:cNvPr id="23" name="s3-flow-5-title">
            <a:extLst xmlns:a="http://schemas.openxmlformats.org/drawingml/2006/main">
              <a:ext uri="{FF2B5EF4-FFF2-40B4-BE49-F238E27FC236}">
                <a16:creationId xmlns:a16="http://schemas.microsoft.com/office/drawing/2014/main" id="{2C867696-E672-49E2-8EC6-FD8AC24A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19400"/>
            <a:ext cx="195072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>
                <a:solidFill>
                  <a:srgbClr val="13233A"/>
                </a:solidFill>
              </a:defRPr>
            </a:pPr>
            <a:r>
              <a:rPr sz="1875" b="1">
                <a:solidFill>
                  <a:srgbClr val="13233A"/>
                </a:solidFill>
              </a:rPr>
              <a:t>LoRA 更新</a:t>
            </a:r>
          </a:p>
        </p:txBody>
      </p:sp>
      <p:sp>
        <p:nvSpPr>
          <p:cNvPr id="24" name="s3-flow-5-dot">
            <a:extLst xmlns:a="http://schemas.openxmlformats.org/drawingml/2006/main">
              <a:ext uri="{FF2B5EF4-FFF2-40B4-BE49-F238E27FC236}">
                <a16:creationId xmlns:a16="http://schemas.microsoft.com/office/drawing/2014/main" id="{319FEF07-F106-4801-8530-D8A12DDD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330" y="354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CB7"/>
          </a:solidFill>
          <a:ln xmlns:a="http://schemas.openxmlformats.org/drawingml/2006/main" w="38100">
            <a:solidFill>
              <a:srgbClr val="F5F7FA"/>
            </a:solidFill>
            <a:prstDash val="solid"/>
          </a:ln>
        </p:spPr>
      </p:sp>
      <p:sp>
        <p:nvSpPr>
          <p:cNvPr id="25" name="s3-flow-5-body">
            <a:extLst xmlns:a="http://schemas.openxmlformats.org/drawingml/2006/main">
              <a:ext uri="{FF2B5EF4-FFF2-40B4-BE49-F238E27FC236}">
                <a16:creationId xmlns:a16="http://schemas.microsoft.com/office/drawing/2014/main" id="{52981D76-776B-4082-9E44-0DD43777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4038600"/>
            <a:ext cx="195072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C718A"/>
                </a:solidFill>
              </a:defRPr>
            </a:pPr>
            <a:r>
              <a:rPr sz="1125" b="0">
                <a:solidFill>
                  <a:srgbClr val="5C718A"/>
                </a:solidFill>
              </a:rPr>
              <a:t>在参数高效更新范围内完成策略优化，而非全参数更新。</a:t>
            </a:r>
          </a:p>
        </p:txBody>
      </p:sp>
      <p:sp>
        <p:nvSpPr>
          <p:cNvPr id="26" name="s3-flow-result-rule">
            <a:extLst xmlns:a="http://schemas.openxmlformats.org/drawingml/2006/main">
              <a:ext uri="{FF2B5EF4-FFF2-40B4-BE49-F238E27FC236}">
                <a16:creationId xmlns:a16="http://schemas.microsoft.com/office/drawing/2014/main" id="{A5EE6DC0-AEF5-4EE2-9E7C-3B2D1A9D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5CB7"/>
            </a:solidFill>
            <a:prstDash val="solid"/>
          </a:ln>
        </p:spPr>
      </p:sp>
      <p:sp>
        <p:nvSpPr>
          <p:cNvPr id="27" name="s3-flow-result-label">
            <a:extLst xmlns:a="http://schemas.openxmlformats.org/drawingml/2006/main">
              <a:ext uri="{FF2B5EF4-FFF2-40B4-BE49-F238E27FC236}">
                <a16:creationId xmlns:a16="http://schemas.microsoft.com/office/drawing/2014/main" id="{BC2A64E1-97F1-46A5-A42F-E848E302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245CB7"/>
                </a:solidFill>
              </a:defRPr>
            </a:pPr>
            <a:r>
              <a:rPr sz="825" b="1">
                <a:solidFill>
                  <a:srgbClr val="245CB7"/>
                </a:solidFill>
              </a:rPr>
              <a:t>训练配方的含义</a:t>
            </a:r>
          </a:p>
        </p:txBody>
      </p:sp>
      <p:sp>
        <p:nvSpPr>
          <p:cNvPr id="28" name="s3-flow-result">
            <a:extLst xmlns:a="http://schemas.openxmlformats.org/drawingml/2006/main">
              <a:ext uri="{FF2B5EF4-FFF2-40B4-BE49-F238E27FC236}">
                <a16:creationId xmlns:a16="http://schemas.microsoft.com/office/drawing/2014/main" id="{6CC004CF-017D-4410-AD5F-80A6A9C3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245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性能归因应落在 rollout、reward、优化与参数更新的完整路径上</a:t>
            </a:r>
          </a:p>
        </p:txBody>
      </p:sp>
    </p:spTree>
    <p:extLst>
      <p:ext uri="{BB962C8B-B14F-4D97-AF65-F5344CB8AC3E}">
        <p14:creationId xmlns:p14="http://schemas.microsoft.com/office/powerpoint/2010/main" val="273294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2026-07-30T15:19:59.0610000Z</dcterms:created>
  <dcterms:modified xsi:type="dcterms:W3CDTF">2026-07-30T15:19:59.0610000Z</dcterms:modified>
</coreProperties>
</file>