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e1275b70c14b0a" /><Relationship Type="http://schemas.openxmlformats.org/officeDocument/2006/relationships/extended-properties" Target="/docProps/app.xml" Id="Ref28d30695e64b79" /><Relationship Type="http://schemas.openxmlformats.org/officeDocument/2006/relationships/officeDocument" Target="/ppt/presentation.xml" Id="Rc90e5b120e774e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061f215dbc461b"/>
  </p:sldMasterIdLst>
  <p:notesMasterIdLst>
    <p:notesMasterId xmlns:r="http://schemas.openxmlformats.org/officeDocument/2006/relationships" r:id="R121cf6d7eb9b4d9d"/>
  </p:notesMasterIdLst>
  <p:sldIdLst>
    <p:sldId xmlns:r="http://schemas.openxmlformats.org/officeDocument/2006/relationships" id="256" r:id="R4dbe16d797e045bd"/>
    <p:sldId xmlns:r="http://schemas.openxmlformats.org/officeDocument/2006/relationships" id="257" r:id="R2cfde09cbc484f13"/>
    <p:sldId xmlns:r="http://schemas.openxmlformats.org/officeDocument/2006/relationships" id="258" r:id="R8668fa2b76134fe1"/>
    <p:sldId xmlns:r="http://schemas.openxmlformats.org/officeDocument/2006/relationships" id="259" r:id="R54eade9bc4cc4f41"/>
    <p:sldId xmlns:r="http://schemas.openxmlformats.org/officeDocument/2006/relationships" id="260" r:id="R8bdb4de7619e4a4b"/>
    <p:sldId xmlns:r="http://schemas.openxmlformats.org/officeDocument/2006/relationships" id="261" r:id="Raf5e21a06a9d4442"/>
    <p:sldId xmlns:r="http://schemas.openxmlformats.org/officeDocument/2006/relationships" id="262" r:id="R60b17fb17a074a65"/>
    <p:sldId xmlns:r="http://schemas.openxmlformats.org/officeDocument/2006/relationships" id="263" r:id="Rf47be994cfc947e0"/>
    <p:sldId xmlns:r="http://schemas.openxmlformats.org/officeDocument/2006/relationships" id="264" r:id="Rea6e1ebcfb8e4a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67a7a5d69344d7" /><Relationship Type="http://schemas.openxmlformats.org/officeDocument/2006/relationships/slideMaster" Target="/ppt/slideMasters/slideMaster1.xml" Id="Rae061f215dbc461b" /><Relationship Type="http://schemas.openxmlformats.org/officeDocument/2006/relationships/notesMaster" Target="/ppt/notesMasters/notesMaster1.xml" Id="R121cf6d7eb9b4d9d" /><Relationship Type="http://schemas.openxmlformats.org/officeDocument/2006/relationships/presProps" Target="/ppt/presProps.xml" Id="Rcb2878cc677046c9" /><Relationship Type="http://schemas.openxmlformats.org/officeDocument/2006/relationships/tableStyles" Target="/ppt/tableStyles.xml" Id="Rf289a203a2dc427a" /><Relationship Type="http://schemas.openxmlformats.org/officeDocument/2006/relationships/slide" Target="/ppt/slides/slide1.xml" Id="R4dbe16d797e045bd" /><Relationship Type="http://schemas.openxmlformats.org/officeDocument/2006/relationships/slide" Target="/ppt/slides/slide2.xml" Id="R2cfde09cbc484f13" /><Relationship Type="http://schemas.openxmlformats.org/officeDocument/2006/relationships/slide" Target="/ppt/slides/slide3.xml" Id="R8668fa2b76134fe1" /><Relationship Type="http://schemas.openxmlformats.org/officeDocument/2006/relationships/slide" Target="/ppt/slides/slide4.xml" Id="R54eade9bc4cc4f41" /><Relationship Type="http://schemas.openxmlformats.org/officeDocument/2006/relationships/slide" Target="/ppt/slides/slide5.xml" Id="R8bdb4de7619e4a4b" /><Relationship Type="http://schemas.openxmlformats.org/officeDocument/2006/relationships/slide" Target="/ppt/slides/slide6.xml" Id="Raf5e21a06a9d4442" /><Relationship Type="http://schemas.openxmlformats.org/officeDocument/2006/relationships/slide" Target="/ppt/slides/slide7.xml" Id="R60b17fb17a074a65" /><Relationship Type="http://schemas.openxmlformats.org/officeDocument/2006/relationships/slide" Target="/ppt/slides/slide8.xml" Id="Rf47be994cfc947e0" /><Relationship Type="http://schemas.openxmlformats.org/officeDocument/2006/relationships/slide" Target="/ppt/slides/slide9.xml" Id="Rea6e1ebcfb8e4a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555a725e4842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23990d94814fa2" /><Relationship Type="http://schemas.openxmlformats.org/officeDocument/2006/relationships/notesMaster" Target="/ppt/notesMasters/notesMaster1.xml" Id="R0886f7bbced849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0792ae1c9e43b3" /><Relationship Type="http://schemas.openxmlformats.org/officeDocument/2006/relationships/notesMaster" Target="/ppt/notesMasters/notesMaster1.xml" Id="Rf21e6783d14d4d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b342b5e85d4fa2" /><Relationship Type="http://schemas.openxmlformats.org/officeDocument/2006/relationships/notesMaster" Target="/ppt/notesMasters/notesMaster1.xml" Id="Rdea9ed32de4b43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a40fb5d3314d4a" /><Relationship Type="http://schemas.openxmlformats.org/officeDocument/2006/relationships/notesMaster" Target="/ppt/notesMasters/notesMaster1.xml" Id="R9a0624bf576b46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0bbeba6e26452d" /><Relationship Type="http://schemas.openxmlformats.org/officeDocument/2006/relationships/notesMaster" Target="/ppt/notesMasters/notesMaster1.xml" Id="R48f2043a9c184a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002a77c77846e3" /><Relationship Type="http://schemas.openxmlformats.org/officeDocument/2006/relationships/notesMaster" Target="/ppt/notesMasters/notesMaster1.xml" Id="R024e9a6aa0114e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cbe3fabe904bd8" /><Relationship Type="http://schemas.openxmlformats.org/officeDocument/2006/relationships/notesMaster" Target="/ppt/notesMasters/notesMaster1.xml" Id="R6c23c514708b4b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7a774497354d12" /><Relationship Type="http://schemas.openxmlformats.org/officeDocument/2006/relationships/notesMaster" Target="/ppt/notesMasters/notesMaster1.xml" Id="R50328bdc20ce48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dbe19fe3284a3c" /><Relationship Type="http://schemas.openxmlformats.org/officeDocument/2006/relationships/notesMaster" Target="/ppt/notesMasters/notesMaster1.xml" Id="R582dd8b56b0e44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我们通常先看最终 SSR，但这组实验真正需要回答的是：增益来自 RL 信号本身，还是来自一整套训练系统？今天沿着三个问题展开：train SSR 是否跨任务提升，运行是否具有效率，以及哪些实验条件限制归因。先把实验契约锁定，再看训练机制、结果和系统成本，最后给出可复现、但不越界的结论。</a:t>
            </a:r>
          </a:p>
          <a:p xmlns:a="http://schemas.openxmlformats.org/drawingml/2006/main">
            <a:r>
              <a:t>讲述提示：先读出标题中的“增益成立”和“归因受约束”，随后明确三个判断维度。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先把比较边界锁定。SFT 与 RL 共用 1,000 个 RoboTwin 随机 seed，使用双臂 Piper；评估再加入 128 个未见 seed。这里必须区分协议与结果：128 个 OOD seed 定义了评估契约，但当前主结果表呈现的是 train SSR，并没有提供 OOD SSR 数字。背景、杂乱度、光照、桌高和语言都会变化，运行环境与 GPU 也会影响复现，所以后面的结果只在固定契约内解释。</a:t>
            </a:r>
          </a:p>
          <a:p xmlns:a="http://schemas.openxmlformats.org/drawingml/2006/main">
            <a:r>
              <a:t>讲述提示：依次强调 1,000、128 和 8 卡三个契约指标，并明确 OOD seed 不是 OOD SSR 结果。</a:t>
            </a:r>
          </a:p>
          <a:p xmlns:a="http://schemas.openxmlformats.org/drawingml/2006/main">
            <a:r>
              <a:t>[Sources] p1-snapshot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实验契约说明评价什么，这一页补上 RLinf 如何学习。一次更新先按 128×8 组织出 1,024 条 rollout，并以 group size 8 形成比较单元；奖励落在 action level，logprob 与 entropy 保持 token level，再用 GRPO 计算优势并更新 actor。最后通过 LoRA 和 2.0e-4 学习率限定更新方式。配置说明的是完整训练配方，下一页继续核对它与 SimpleVLA 的差异。</a:t>
            </a:r>
          </a:p>
          <a:p xmlns:a="http://schemas.openxmlformats.org/drawingml/2006/main">
            <a:r>
              <a:t>讲述提示：沿五个节点从左到右阅读，最后停在 LoRA 更新。</a:t>
            </a:r>
          </a:p>
          <a:p xmlns:a="http://schemas.openxmlformats.org/drawingml/2006/main">
            <a:r>
              <a:t>[Sources] p4-snapshot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这里把公平比较拆成可检查的变量。两套实现共享 SFT 模型、train/eval seeds、模型实现和 GRPO，因此有共同起点；但 RLinf 与 SimpleVLA 在精度、rollout batch、学习率和 LoRA 上不同。valid trajectory 的收集时机和 reward 粒度也不同，会改变每次更新接收到的学习信号。因此后面的结果可以作为系统级比较，但不能单独归因于某一个算法组件。</a:t>
            </a:r>
          </a:p>
          <a:p xmlns:a="http://schemas.openxmlformats.org/drawingml/2006/main">
            <a:r>
              <a:t>讲述提示：先读共同基础，再按表格行读取差异，最后明确系统级解释边界。</a:t>
            </a:r>
          </a:p>
          <a:p xmlns:a="http://schemas.openxmlformats.org/drawingml/2006/main">
            <a:r>
              <a:t>[Sources] p4-table-1-crop · p5-table-1-crop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在可比性边界明确后，先看 RLinf 自身是否稳定地产生 train SSR 收益。8 个 RoboTwin 任务里，RLinf RL 的 train SSR 全部高于 SFT，平均从 24.48% 升到 84.63%，提升 60.15 个百分点。任务级结果还显示，增益幅度从 18.75 到 85.94 不等，训练步数从 30 到 240。这里证明的是 train SSR 上的跨任务训练收益，不是 OOD SSR 泛化，下一页再比较两套系统。</a:t>
            </a:r>
          </a:p>
          <a:p xmlns:a="http://schemas.openxmlformats.org/drawingml/2006/main">
            <a:r>
              <a:t>讲述提示：先强调 train SSR、24.48%→84.63% 和 8/8，再指向任务级差异与训练步数。</a:t>
            </a:r>
          </a:p>
          <a:p xmlns:a="http://schemas.openxmlformats.org/drawingml/2006/main">
            <a:r>
              <a:t>[Sources] p5-table-1 · p6-table-1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把两套系统的 SFT→RL 平均 train SSR 变化放在同一张表里。RLinf 从 24.48% 提升到 84.63%，增加 60.15 个百分点；SimpleVLA 从 34.40% 提升到 72.18%，增加 37.78 个百分点，所以 RLinf 的完整训练系统平均增幅更大。但这一页不是 OOD SSR 结果，也不构成单因素消融：精度、学习率、LoRA、轨迹收集和 reward 设计都不同。下一页检查敏感性。</a:t>
            </a:r>
          </a:p>
          <a:p xmlns:a="http://schemas.openxmlformats.org/drawingml/2006/main">
            <a:r>
              <a:t>讲述提示：先读两组 train SSR 平均值和增幅，再明确“系统级比较”而非“纯算法因果”。</a:t>
            </a:r>
          </a:p>
          <a:p xmlns:a="http://schemas.openxmlformats.org/drawingml/2006/main">
            <a:r>
              <a:t>[Sources] p6-table-1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平均 train SSR 增益成立后，还要看单任务结果是否依赖评估协议。place_empty_cup 中，pi0 与 pi05 的 SFT 起点不同；OFT 在 Temp_eval=-1 与 1.6 下的 PPO、GRPO 结果也不同，部分温度结果没有重跑，RL 统一取 50 step。因此这些数字适合作为敏感性证据，而不是方法独立能力。它们也不能替代 OOD SSR 结果。复现时应同时报告初始化、评估温度、训练步数和重跑状态，随后转向系统成本。</a:t>
            </a:r>
          </a:p>
          <a:p xmlns:a="http://schemas.openxmlformats.org/drawingml/2006/main">
            <a:r>
              <a:t>讲述提示：先读两组不同 SFT 基线，再指向温度变化，最后强调单点结果边界。</a:t>
            </a:r>
          </a:p>
          <a:p xmlns:a="http://schemas.openxmlformats.org/drawingml/2006/main">
            <a:r>
              <a:t>[Sources] p1-table-1-crop · p1-table-2-crop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这一页只回答当前 8 卡条件下应该优先考察哪种并行模式。RLinf colocated 的 actor/rollout 为 49.15/170.34 秒，低于 SimpleVLA 的 94.05/189.33 秒；同为 8 卡，disaggregated 的 rollout 达到 546.64 秒，两个 Hybrid 配置也高于 colocated。因而这里支持的是明确配置下的选型判断，不外推到不同节点规模；进入结论页后，再把效率证据与性能增益、归因边界合并起来。</a:t>
            </a:r>
          </a:p>
          <a:p xmlns:a="http://schemas.openxmlformats.org/drawingml/2006/main">
            <a:r>
              <a:t>讲述提示：先比较 colocated 与 SimpleVLA，再指出其他 8 卡模式的成本，最后限定结论范围。</a:t>
            </a:r>
          </a:p>
          <a:p xmlns:a="http://schemas.openxmlformats.org/drawingml/2006/main">
            <a:r>
              <a:t>[Sources] p6-table-2 · p6-table-2-crop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现在回到开场问题。固定 RoboTwin seed、OOD 评估契约和 8 卡 A800 后，RLinf 在 8 个任务上的平均 train SSR 从 24.48% 提升到 84.63%，colocated 下 actor 和 rollout 也具竞争力。但要明确：128 个 OOD seed 只是评估设置，当前证据没有给出 OOD SSR 结果。两边在精度、学习率、LoRA、轨迹收集和 reward 设计上并不完全一致，所以结论应归因于完整训练系统，而不是单一算法组件。</a:t>
            </a:r>
          </a:p>
          <a:p xmlns:a="http://schemas.openxmlformats.org/drawingml/2006/main">
            <a:r>
              <a:t>讲述提示：先给出 train SSR 答案，再读效率证据，最后明确 OOD 结果缺失与系统级归因边界。</a:t>
            </a:r>
          </a:p>
          <a:p xmlns:a="http://schemas.openxmlformats.org/drawingml/2006/main">
            <a:r>
              <a:t>[Sources] p6-table-1 · p6-table-2-crop · p4-table-1-crop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365825bf444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72ffe9c7fd4852" /><Relationship Type="http://schemas.openxmlformats.org/officeDocument/2006/relationships/slideLayout" Target="/ppt/slideLayouts/slideLayout1.xml" Id="R1a57fc05de8046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57fc05de8046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f9262cc044cad" /><Relationship Type="http://schemas.openxmlformats.org/officeDocument/2006/relationships/notesSlide" Target="/ppt/notesSlides/notesSlide1.xml" Id="R3a8b637b0f5248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23793a79b4bc6" /><Relationship Type="http://schemas.openxmlformats.org/officeDocument/2006/relationships/image" Target="/ppt/media/image.png" Id="Re89e358549064b49" /><Relationship Type="http://schemas.openxmlformats.org/officeDocument/2006/relationships/notesSlide" Target="/ppt/notesSlides/notesSlide2.xml" Id="R2ee89cf2f2704b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3d0c9b7fc4139" /><Relationship Type="http://schemas.openxmlformats.org/officeDocument/2006/relationships/notesSlide" Target="/ppt/notesSlides/notesSlide3.xml" Id="R6a40dd7599ff43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9f15f16e249c7" /><Relationship Type="http://schemas.openxmlformats.org/officeDocument/2006/relationships/image" Target="/ppt/media/image2.png" Id="Ra229701814844e1f" /><Relationship Type="http://schemas.openxmlformats.org/officeDocument/2006/relationships/notesSlide" Target="/ppt/notesSlides/notesSlide4.xml" Id="R59fe190378594e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a9f7ad4da44be" /><Relationship Type="http://schemas.openxmlformats.org/officeDocument/2006/relationships/chart" Target="/ppt/slides/charts/chart1.xml" Id="Rfd83a11d436c4750" /><Relationship Type="http://schemas.openxmlformats.org/officeDocument/2006/relationships/image" Target="/ppt/media/image3.png" Id="R5f8786a2467d4cfa" /><Relationship Type="http://schemas.openxmlformats.org/officeDocument/2006/relationships/notesSlide" Target="/ppt/notesSlides/notesSlide5.xml" Id="R96d4b9d11bcc4e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217f8f58c405a" /><Relationship Type="http://schemas.openxmlformats.org/officeDocument/2006/relationships/notesSlide" Target="/ppt/notesSlides/notesSlide6.xml" Id="R5a3faef5692d4e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7f70db02b4ce1" /><Relationship Type="http://schemas.openxmlformats.org/officeDocument/2006/relationships/notesSlide" Target="/ppt/notesSlides/notesSlide7.xml" Id="R2fe18d4ef01244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caac398c74a2b" /><Relationship Type="http://schemas.openxmlformats.org/officeDocument/2006/relationships/image" Target="/ppt/media/image4.png" Id="R49e9a1b55f644943" /><Relationship Type="http://schemas.openxmlformats.org/officeDocument/2006/relationships/notesSlide" Target="/ppt/notesSlides/notesSlide8.xml" Id="R0f157490756648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16a3957514e6a" /><Relationship Type="http://schemas.openxmlformats.org/officeDocument/2006/relationships/notesSlide" Target="/ppt/notesSlides/notesSlide9.xml" Id="R952dda6bdda34fb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RLinf SFT</c:v>
          </c:tx>
          <c:cat>
            <c:strLit>
              <c:ptCount val="8"/>
              <c:pt idx="0">
                <c:v>place empty cup</c:v>
              </c:pt>
              <c:pt idx="1">
                <c:v>beat block hammer</c:v>
              </c:pt>
              <c:pt idx="2">
                <c:v>pick dual bottles</c:v>
              </c:pt>
              <c:pt idx="3">
                <c:v>move can pot</c:v>
              </c:pt>
              <c:pt idx="4">
                <c:v>lift pot</c:v>
              </c:pt>
              <c:pt idx="5">
                <c:v>stack bowls two</c:v>
              </c:pt>
              <c:pt idx="6">
                <c:v>handover block</c:v>
              </c:pt>
              <c:pt idx="7">
                <c:v>place container plat e</c:v>
              </c:pt>
            </c:strLit>
          </c:cat>
          <c:val>
            <c:numLit>
              <c:formatCode>General</c:formatCode>
              <c:ptCount val="8"/>
              <c:pt idx="0">
                <c:v>75.78</c:v>
              </c:pt>
              <c:pt idx="1">
                <c:v>10.15</c:v>
              </c:pt>
              <c:pt idx="2">
                <c:v>20.31</c:v>
              </c:pt>
              <c:pt idx="3">
                <c:v>9.37</c:v>
              </c:pt>
              <c:pt idx="4">
                <c:v>3.13</c:v>
              </c:pt>
              <c:pt idx="5">
                <c:v>38.28</c:v>
              </c:pt>
              <c:pt idx="6">
                <c:v>28.13</c:v>
              </c:pt>
              <c:pt idx="7">
                <c:v>54.69</c:v>
              </c:pt>
            </c:numLit>
          </c:val>
        </c:ser>
        <c:ser>
          <c:idx val="1"/>
          <c:order val="1"/>
          <c:tx>
            <c:v>RLinf RL</c:v>
          </c:tx>
          <c:cat>
            <c:strLit>
              <c:ptCount val="8"/>
              <c:pt idx="0">
                <c:v>place empty cup</c:v>
              </c:pt>
              <c:pt idx="1">
                <c:v>beat block hammer</c:v>
              </c:pt>
              <c:pt idx="2">
                <c:v>pick dual bottles</c:v>
              </c:pt>
              <c:pt idx="3">
                <c:v>move can pot</c:v>
              </c:pt>
              <c:pt idx="4">
                <c:v>lift pot</c:v>
              </c:pt>
              <c:pt idx="5">
                <c:v>stack bowls two</c:v>
              </c:pt>
              <c:pt idx="6">
                <c:v>handover block</c:v>
              </c:pt>
              <c:pt idx="7">
                <c:v>place container plat e</c:v>
              </c:pt>
            </c:strLit>
          </c:cat>
          <c:val>
            <c:numLit>
              <c:formatCode>General</c:formatCode>
              <c:ptCount val="8"/>
              <c:pt idx="0">
                <c:v>94.53</c:v>
              </c:pt>
              <c:pt idx="1">
                <c:v>96.09</c:v>
              </c:pt>
              <c:pt idx="2">
                <c:v>92.96</c:v>
              </c:pt>
              <c:pt idx="3">
                <c:v>83.59</c:v>
              </c:pt>
              <c:pt idx="4">
                <c:v>70.31</c:v>
              </c:pt>
              <c:pt idx="5">
                <c:v>67.19</c:v>
              </c:pt>
              <c:pt idx="6">
                <c:v>70.31</c:v>
              </c:pt>
              <c:pt idx="7">
                <c:v>95.31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323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5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718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0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BAB23B13-BD89-4DC4-8F80-37E35244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CD2BB0CB-9A54-4BAB-9481-AC82F376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01 / 09</a:t>
            </a:r>
          </a:p>
        </p:txBody>
      </p:sp>
      <p:sp>
        <p:nvSpPr>
          <p:cNvPr id="3" name="s1-eyebrow">
            <a:extLst xmlns:a="http://schemas.openxmlformats.org/drawingml/2006/main">
              <a:ext uri="{FF2B5EF4-FFF2-40B4-BE49-F238E27FC236}">
                <a16:creationId xmlns:a16="http://schemas.microsoft.com/office/drawing/2014/main" id="{D6607D41-F262-43C0-86DB-1B69FE8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45CB7"/>
                </a:solidFill>
              </a:defRPr>
            </a:pPr>
            <a:r>
              <a:rPr sz="1050" b="1">
                <a:solidFill>
                  <a:srgbClr val="245CB7"/>
                </a:solidFill>
              </a:rPr>
              <a:t>RoboTwin 实验解读</a:t>
            </a:r>
          </a:p>
        </p:txBody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57E7731F-8E0A-4B03-9DB7-51035E87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9055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13233A"/>
                </a:solidFill>
              </a:defRPr>
            </a:pPr>
            <a:r>
              <a:rPr sz="3900" b="1">
                <a:solidFill>
                  <a:srgbClr val="13233A"/>
                </a:solidFill>
              </a:rPr>
              <a:t>RLinf 的增益成立，但归因受实验契约约束</a:t>
            </a:r>
          </a:p>
        </p:txBody>
      </p:sp>
      <p:sp>
        <p:nvSpPr>
          <p:cNvPr id="5" name="s1-subtitle">
            <a:extLst xmlns:a="http://schemas.openxmlformats.org/drawingml/2006/main">
              <a:ext uri="{FF2B5EF4-FFF2-40B4-BE49-F238E27FC236}">
                <a16:creationId xmlns:a16="http://schemas.microsoft.com/office/drawing/2014/main" id="{BBA945BF-FEE9-46C2-9CE4-7A38BB1B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C718A"/>
                </a:solidFill>
              </a:defRPr>
            </a:pPr>
            <a:r>
              <a:rPr sz="1575" b="0">
                <a:solidFill>
                  <a:srgbClr val="5C718A"/>
                </a:solidFill>
              </a:rPr>
              <a:t>性能、效率与归因边界必须一起判断</a:t>
            </a:r>
          </a:p>
        </p:txBody>
      </p:sp>
      <p:sp>
        <p:nvSpPr>
          <p:cNvPr id="6" name="s1-title-visual-plate">
            <a:extLst xmlns:a="http://schemas.openxmlformats.org/drawingml/2006/main">
              <a:ext uri="{FF2B5EF4-FFF2-40B4-BE49-F238E27FC236}">
                <a16:creationId xmlns:a16="http://schemas.microsoft.com/office/drawing/2014/main" id="{A8765FD1-A1EE-438A-826A-1F9B8740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47800"/>
            <a:ext cx="4000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7" name="s1-title-visual-plate-label">
            <a:extLst xmlns:a="http://schemas.openxmlformats.org/drawingml/2006/main">
              <a:ext uri="{FF2B5EF4-FFF2-40B4-BE49-F238E27FC236}">
                <a16:creationId xmlns:a16="http://schemas.microsoft.com/office/drawing/2014/main" id="{4FD4610C-594A-4B06-920F-AF6A3F5D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38300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PAPER / ARGUMENT MAP</a:t>
            </a:r>
          </a:p>
        </p:txBody>
      </p:sp>
      <p:sp>
        <p:nvSpPr>
          <p:cNvPr id="8" name="s1-title-visual-manuscript-line-1">
            <a:extLst xmlns:a="http://schemas.openxmlformats.org/drawingml/2006/main">
              <a:ext uri="{FF2B5EF4-FFF2-40B4-BE49-F238E27FC236}">
                <a16:creationId xmlns:a16="http://schemas.microsoft.com/office/drawing/2014/main" id="{5D9A3617-7C4B-4775-A984-BBB2F720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24100"/>
            <a:ext cx="2880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CB7"/>
            </a:solidFill>
            <a:prstDash val="solid"/>
          </a:ln>
        </p:spPr>
      </p:sp>
      <p:sp>
        <p:nvSpPr>
          <p:cNvPr id="9" name="s1-title-visual-manuscript-line-2">
            <a:extLst xmlns:a="http://schemas.openxmlformats.org/drawingml/2006/main">
              <a:ext uri="{FF2B5EF4-FFF2-40B4-BE49-F238E27FC236}">
                <a16:creationId xmlns:a16="http://schemas.microsoft.com/office/drawing/2014/main" id="{E70A91B2-1585-450B-81B2-DFD58B7D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2320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0" name="s1-title-visual-manuscript-line-3">
            <a:extLst xmlns:a="http://schemas.openxmlformats.org/drawingml/2006/main">
              <a:ext uri="{FF2B5EF4-FFF2-40B4-BE49-F238E27FC236}">
                <a16:creationId xmlns:a16="http://schemas.microsoft.com/office/drawing/2014/main" id="{697B59ED-C8B9-4AF7-9F71-97A8E4E6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38500"/>
            <a:ext cx="2320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1" name="s1-title-visual-manuscript-line-4">
            <a:extLst xmlns:a="http://schemas.openxmlformats.org/drawingml/2006/main">
              <a:ext uri="{FF2B5EF4-FFF2-40B4-BE49-F238E27FC236}">
                <a16:creationId xmlns:a16="http://schemas.microsoft.com/office/drawing/2014/main" id="{A95EA2EF-2F0B-4E12-B45B-DF8B1586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95700"/>
            <a:ext cx="2320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2" name="s1-title-visual-manuscript-line-5">
            <a:extLst xmlns:a="http://schemas.openxmlformats.org/drawingml/2006/main">
              <a:ext uri="{FF2B5EF4-FFF2-40B4-BE49-F238E27FC236}">
                <a16:creationId xmlns:a16="http://schemas.microsoft.com/office/drawing/2014/main" id="{DFCAE6F2-1F73-4331-8027-8F4927BE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52900"/>
            <a:ext cx="1840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3" name="s1-title-visual-annotation">
            <a:extLst xmlns:a="http://schemas.openxmlformats.org/drawingml/2006/main">
              <a:ext uri="{FF2B5EF4-FFF2-40B4-BE49-F238E27FC236}">
                <a16:creationId xmlns:a16="http://schemas.microsoft.com/office/drawing/2014/main" id="{3F7F0632-ABDF-433D-9A6D-03F2CCB4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790" y="2266950"/>
            <a:ext cx="720090" cy="156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5F42"/>
            </a:solidFill>
            <a:prstDash val="solid"/>
          </a:ln>
        </p:spPr>
      </p:sp>
      <p:sp>
        <p:nvSpPr>
          <p:cNvPr id="14" name="s1-title-visual-annotation-label">
            <a:extLst xmlns:a="http://schemas.openxmlformats.org/drawingml/2006/main">
              <a:ext uri="{FF2B5EF4-FFF2-40B4-BE49-F238E27FC236}">
                <a16:creationId xmlns:a16="http://schemas.microsoft.com/office/drawing/2014/main" id="{44F74AEB-E21F-413C-B726-ABC74811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795" y="2571750"/>
            <a:ext cx="64008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D65F42"/>
                </a:solidFill>
              </a:defRPr>
            </a:pPr>
            <a:r>
              <a:rPr sz="900" b="1">
                <a:solidFill>
                  <a:srgbClr val="D65F42"/>
                </a:solidFill>
              </a:rPr>
              <a:t>CLAIM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D65F42"/>
                </a:solidFill>
              </a:defRPr>
            </a:pPr>
            <a:r>
              <a:rPr sz="900" b="1">
                <a:solidFill>
                  <a:srgbClr val="D65F42"/>
                </a:solidFill>
              </a:rPr>
              <a:t>→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D65F42"/>
                </a:solidFill>
              </a:defRPr>
            </a:pPr>
            <a:r>
              <a:rPr sz="900" b="1">
                <a:solidFill>
                  <a:srgbClr val="D65F42"/>
                </a:solidFill>
              </a:rPr>
              <a:t>EVIDENCE</a:t>
            </a:r>
          </a:p>
        </p:txBody>
      </p:sp>
      <p:sp>
        <p:nvSpPr>
          <p:cNvPr id="15" name="s1-note-bg">
            <a:extLst xmlns:a="http://schemas.openxmlformats.org/drawingml/2006/main">
              <a:ext uri="{FF2B5EF4-FFF2-40B4-BE49-F238E27FC236}">
                <a16:creationId xmlns:a16="http://schemas.microsoft.com/office/drawing/2014/main" id="{A3CAD9F2-0047-4300-9465-18B708E0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6858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6" name="s1-note-label">
            <a:extLst xmlns:a="http://schemas.openxmlformats.org/drawingml/2006/main">
              <a:ext uri="{FF2B5EF4-FFF2-40B4-BE49-F238E27FC236}">
                <a16:creationId xmlns:a16="http://schemas.microsoft.com/office/drawing/2014/main" id="{80CC5B58-ECD1-402A-AFA5-ADD58B81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判断框架</a:t>
            </a:r>
          </a:p>
        </p:txBody>
      </p:sp>
      <p:sp>
        <p:nvSpPr>
          <p:cNvPr id="17" name="s1-note-value">
            <a:extLst xmlns:a="http://schemas.openxmlformats.org/drawingml/2006/main">
              <a:ext uri="{FF2B5EF4-FFF2-40B4-BE49-F238E27FC236}">
                <a16:creationId xmlns:a16="http://schemas.microsoft.com/office/drawing/2014/main" id="{E0EF8DD0-6EC2-4E33-A552-FD9F73FD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3233A"/>
                </a:solidFill>
              </a:defRPr>
            </a:pPr>
            <a:r>
              <a:rPr sz="1200" b="1">
                <a:solidFill>
                  <a:srgbClr val="13233A"/>
                </a:solidFill>
              </a:rPr>
              <a:t>性能提升 ≠ RL 单独贡献</a:t>
            </a:r>
          </a:p>
        </p:txBody>
      </p:sp>
    </p:spTree>
    <p:extLst>
      <p:ext uri="{BB962C8B-B14F-4D97-AF65-F5344CB8AC3E}">
        <p14:creationId xmlns:p14="http://schemas.microsoft.com/office/powerpoint/2010/main" val="2103713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2-top-rule">
            <a:extLst xmlns:a="http://schemas.openxmlformats.org/drawingml/2006/main">
              <a:ext uri="{FF2B5EF4-FFF2-40B4-BE49-F238E27FC236}">
                <a16:creationId xmlns:a16="http://schemas.microsoft.com/office/drawing/2014/main" id="{4BB7E912-9584-4DCA-871D-D76E0792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8A36C381-C087-4CCD-9FCE-C6E4D154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02 / 09</a:t>
            </a:r>
          </a:p>
        </p:txBody>
      </p:sp>
      <p:sp>
        <p:nvSpPr>
          <p:cNvPr id="3" name="s2-kicker">
            <a:extLst xmlns:a="http://schemas.openxmlformats.org/drawingml/2006/main">
              <a:ext uri="{FF2B5EF4-FFF2-40B4-BE49-F238E27FC236}">
                <a16:creationId xmlns:a16="http://schemas.microsoft.com/office/drawing/2014/main" id="{875C2F59-B02A-4CDB-8F05-3E7646B7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45CB7"/>
                </a:solidFill>
              </a:defRPr>
            </a:pPr>
            <a:r>
              <a:rPr sz="975" b="1">
                <a:solidFill>
                  <a:srgbClr val="245CB7"/>
                </a:solidFill>
              </a:rPr>
              <a:t>实验契约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4F955789-6FBF-4E41-B0B1-A739E48C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5676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75" b="1">
                <a:solidFill>
                  <a:srgbClr val="13233A"/>
                </a:solidFill>
              </a:defRPr>
            </a:pPr>
            <a:r>
              <a:rPr sz="2775" b="1">
                <a:solidFill>
                  <a:srgbClr val="13233A"/>
                </a:solidFill>
              </a:rPr>
              <a:t>先锁定实验契约，再谈 train SSR</a:t>
            </a:r>
          </a:p>
        </p:txBody>
      </p:sp>
      <p:sp>
        <p:nvSpPr>
          <p:cNvPr id="5" name="s2-lede">
            <a:extLst xmlns:a="http://schemas.openxmlformats.org/drawingml/2006/main">
              <a:ext uri="{FF2B5EF4-FFF2-40B4-BE49-F238E27FC236}">
                <a16:creationId xmlns:a16="http://schemas.microsoft.com/office/drawing/2014/main" id="{AAF4750F-48BE-4607-BDB2-CB58900C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C718A"/>
                </a:solidFill>
              </a:defRPr>
            </a:pPr>
            <a:r>
              <a:rPr sz="1275" b="0">
                <a:solidFill>
                  <a:srgbClr val="5C718A"/>
                </a:solidFill>
              </a:rPr>
              <a:t>128 个 OOD seed 是评估契约；当前主结果报告的是 train SSR，不是 OOD SSR。</a:t>
            </a:r>
          </a:p>
        </p:txBody>
      </p:sp>
      <p:sp>
        <p:nvSpPr>
          <p:cNvPr id="6" name="s2-contract-metric-1">
            <a:extLst xmlns:a="http://schemas.openxmlformats.org/drawingml/2006/main">
              <a:ext uri="{FF2B5EF4-FFF2-40B4-BE49-F238E27FC236}">
                <a16:creationId xmlns:a16="http://schemas.microsoft.com/office/drawing/2014/main" id="{02D815CA-5613-43D7-BF7B-93A38AFB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816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7" name="s2-contract-rule-1">
            <a:extLst xmlns:a="http://schemas.openxmlformats.org/drawingml/2006/main">
              <a:ext uri="{FF2B5EF4-FFF2-40B4-BE49-F238E27FC236}">
                <a16:creationId xmlns:a16="http://schemas.microsoft.com/office/drawing/2014/main" id="{5F2F6ECE-B71C-423F-B5A9-3C4D2C9E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816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2-contract-label-1">
            <a:extLst xmlns:a="http://schemas.openxmlformats.org/drawingml/2006/main">
              <a:ext uri="{FF2B5EF4-FFF2-40B4-BE49-F238E27FC236}">
                <a16:creationId xmlns:a16="http://schemas.microsoft.com/office/drawing/2014/main" id="{157D53B8-847D-4302-B4AC-6419ED0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47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训练 seed</a:t>
            </a:r>
          </a:p>
        </p:txBody>
      </p:sp>
      <p:sp>
        <p:nvSpPr>
          <p:cNvPr id="9" name="s2-contract-value-1">
            <a:extLst xmlns:a="http://schemas.openxmlformats.org/drawingml/2006/main">
              <a:ext uri="{FF2B5EF4-FFF2-40B4-BE49-F238E27FC236}">
                <a16:creationId xmlns:a16="http://schemas.microsoft.com/office/drawing/2014/main" id="{0C5DB3BA-75D0-4E39-AE6F-56C90745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4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3233A"/>
                </a:solidFill>
              </a:defRPr>
            </a:pPr>
            <a:r>
              <a:rPr sz="2550" b="1">
                <a:solidFill>
                  <a:srgbClr val="13233A"/>
                </a:solidFill>
              </a:rPr>
              <a:t>1,000</a:t>
            </a:r>
          </a:p>
        </p:txBody>
      </p:sp>
      <p:sp>
        <p:nvSpPr>
          <p:cNvPr id="10" name="s2-contract-meaning-1">
            <a:extLst xmlns:a="http://schemas.openxmlformats.org/drawingml/2006/main">
              <a:ext uri="{FF2B5EF4-FFF2-40B4-BE49-F238E27FC236}">
                <a16:creationId xmlns:a16="http://schemas.microsoft.com/office/drawing/2014/main" id="{BFA74E66-896E-4ACD-B012-A277AABF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47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SFT 与 RL 的共同场景起点</a:t>
            </a:r>
          </a:p>
        </p:txBody>
      </p:sp>
      <p:sp>
        <p:nvSpPr>
          <p:cNvPr id="11" name="s2-contract-metric-2">
            <a:extLst xmlns:a="http://schemas.openxmlformats.org/drawingml/2006/main">
              <a:ext uri="{FF2B5EF4-FFF2-40B4-BE49-F238E27FC236}">
                <a16:creationId xmlns:a16="http://schemas.microsoft.com/office/drawing/2014/main" id="{615CA1A3-730F-431D-945D-E12E4176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2990850"/>
            <a:ext cx="1816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2" name="s2-contract-rule-2">
            <a:extLst xmlns:a="http://schemas.openxmlformats.org/drawingml/2006/main">
              <a:ext uri="{FF2B5EF4-FFF2-40B4-BE49-F238E27FC236}">
                <a16:creationId xmlns:a16="http://schemas.microsoft.com/office/drawing/2014/main" id="{AEE5DEC3-4F68-4237-8E94-93E2693C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2990850"/>
            <a:ext cx="1816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contract-label-2">
            <a:extLst xmlns:a="http://schemas.openxmlformats.org/drawingml/2006/main">
              <a:ext uri="{FF2B5EF4-FFF2-40B4-BE49-F238E27FC236}">
                <a16:creationId xmlns:a16="http://schemas.microsoft.com/office/drawing/2014/main" id="{7D788F84-6B42-4C5F-A2B9-0599E3F2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50" y="3219450"/>
            <a:ext cx="147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OOD 评估 seed</a:t>
            </a:r>
          </a:p>
        </p:txBody>
      </p:sp>
      <p:sp>
        <p:nvSpPr>
          <p:cNvPr id="14" name="s2-contract-value-2">
            <a:extLst xmlns:a="http://schemas.openxmlformats.org/drawingml/2006/main">
              <a:ext uri="{FF2B5EF4-FFF2-40B4-BE49-F238E27FC236}">
                <a16:creationId xmlns:a16="http://schemas.microsoft.com/office/drawing/2014/main" id="{B289A694-0DCB-4512-883A-AE409BBE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50" y="3581400"/>
            <a:ext cx="14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3233A"/>
                </a:solidFill>
              </a:defRPr>
            </a:pPr>
            <a:r>
              <a:rPr sz="2550" b="1">
                <a:solidFill>
                  <a:srgbClr val="13233A"/>
                </a:solidFill>
              </a:rPr>
              <a:t>128</a:t>
            </a:r>
          </a:p>
        </p:txBody>
      </p:sp>
      <p:sp>
        <p:nvSpPr>
          <p:cNvPr id="15" name="s2-contract-meaning-2">
            <a:extLst xmlns:a="http://schemas.openxmlformats.org/drawingml/2006/main">
              <a:ext uri="{FF2B5EF4-FFF2-40B4-BE49-F238E27FC236}">
                <a16:creationId xmlns:a16="http://schemas.microsoft.com/office/drawing/2014/main" id="{177A02BC-EA8F-4CC6-8ABE-C6AAC2EC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50" y="4267200"/>
            <a:ext cx="147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评估契约，不等于已报告的 OOD SSR 结果</a:t>
            </a:r>
          </a:p>
        </p:txBody>
      </p:sp>
      <p:sp>
        <p:nvSpPr>
          <p:cNvPr id="16" name="s2-contract-metric-3">
            <a:extLst xmlns:a="http://schemas.openxmlformats.org/drawingml/2006/main">
              <a:ext uri="{FF2B5EF4-FFF2-40B4-BE49-F238E27FC236}">
                <a16:creationId xmlns:a16="http://schemas.microsoft.com/office/drawing/2014/main" id="{DEE38278-34A7-4961-AFC2-11084D05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990850"/>
            <a:ext cx="1816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7" name="s2-contract-rule-3">
            <a:extLst xmlns:a="http://schemas.openxmlformats.org/drawingml/2006/main">
              <a:ext uri="{FF2B5EF4-FFF2-40B4-BE49-F238E27FC236}">
                <a16:creationId xmlns:a16="http://schemas.microsoft.com/office/drawing/2014/main" id="{029B81D0-DFD1-4FEF-A59C-EE80F720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990850"/>
            <a:ext cx="1816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2-contract-label-3">
            <a:extLst xmlns:a="http://schemas.openxmlformats.org/drawingml/2006/main">
              <a:ext uri="{FF2B5EF4-FFF2-40B4-BE49-F238E27FC236}">
                <a16:creationId xmlns:a16="http://schemas.microsoft.com/office/drawing/2014/main" id="{06F9DD78-03BF-4401-994D-774DADD9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3219450"/>
            <a:ext cx="147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D65F42"/>
                </a:solidFill>
              </a:defRPr>
            </a:pPr>
            <a:r>
              <a:rPr sz="750" b="1">
                <a:solidFill>
                  <a:srgbClr val="D65F42"/>
                </a:solidFill>
              </a:rPr>
              <a:t>硬件条件</a:t>
            </a:r>
          </a:p>
        </p:txBody>
      </p:sp>
      <p:sp>
        <p:nvSpPr>
          <p:cNvPr id="19" name="s2-contract-value-3">
            <a:extLst xmlns:a="http://schemas.openxmlformats.org/drawingml/2006/main">
              <a:ext uri="{FF2B5EF4-FFF2-40B4-BE49-F238E27FC236}">
                <a16:creationId xmlns:a16="http://schemas.microsoft.com/office/drawing/2014/main" id="{F94F0EC2-58D6-4BBF-B273-159D42A8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3581400"/>
            <a:ext cx="14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3233A"/>
                </a:solidFill>
              </a:defRPr>
            </a:pPr>
            <a:r>
              <a:rPr sz="2550" b="1">
                <a:solidFill>
                  <a:srgbClr val="13233A"/>
                </a:solidFill>
              </a:rPr>
              <a:t>8× A800</a:t>
            </a:r>
          </a:p>
        </p:txBody>
      </p:sp>
      <p:sp>
        <p:nvSpPr>
          <p:cNvPr id="20" name="s2-contract-meaning-3">
            <a:extLst xmlns:a="http://schemas.openxmlformats.org/drawingml/2006/main">
              <a:ext uri="{FF2B5EF4-FFF2-40B4-BE49-F238E27FC236}">
                <a16:creationId xmlns:a16="http://schemas.microsoft.com/office/drawing/2014/main" id="{8551C762-67F3-4932-861C-D25F8E54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4267200"/>
            <a:ext cx="147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后续 train SSR 比较的固定平台</a:t>
            </a:r>
          </a:p>
        </p:txBody>
      </p:sp>
      <p:sp>
        <p:nvSpPr>
          <p:cNvPr id="21" name="s2-contract-image-frame">
            <a:extLst xmlns:a="http://schemas.openxmlformats.org/drawingml/2006/main">
              <a:ext uri="{FF2B5EF4-FFF2-40B4-BE49-F238E27FC236}">
                <a16:creationId xmlns:a16="http://schemas.microsoft.com/office/drawing/2014/main" id="{742BD927-53CC-402A-87D8-064C2A23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47750"/>
            <a:ext cx="47244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e358549064b49"/>
          <a:srcRect xmlns:a="http://schemas.openxmlformats.org/drawingml/2006/main" l="0" t="21994" r="0" b="21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200150"/>
            <a:ext cx="4419600" cy="3505200"/>
          </a:xfrm>
          <a:prstGeom xmlns:a="http://schemas.openxmlformats.org/drawingml/2006/main" prst="rect">
            <a:avLst/>
          </a:prstGeom>
        </p:spPr>
      </p:pic>
      <p:sp>
        <p:nvSpPr>
          <p:cNvPr id="23" name="s2-contract-takeaway-rule">
            <a:extLst xmlns:a="http://schemas.openxmlformats.org/drawingml/2006/main">
              <a:ext uri="{FF2B5EF4-FFF2-40B4-BE49-F238E27FC236}">
                <a16:creationId xmlns:a16="http://schemas.microsoft.com/office/drawing/2014/main" id="{1C5E6CEF-B651-403B-B704-0F107A6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4" name="s2-contract-takeaway-label">
            <a:extLst xmlns:a="http://schemas.openxmlformats.org/drawingml/2006/main">
              <a:ext uri="{FF2B5EF4-FFF2-40B4-BE49-F238E27FC236}">
                <a16:creationId xmlns:a16="http://schemas.microsoft.com/office/drawing/2014/main" id="{833F4FCE-4938-47C3-8D8B-D3ABD585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实验契约</a:t>
            </a:r>
          </a:p>
        </p:txBody>
      </p:sp>
      <p:sp>
        <p:nvSpPr>
          <p:cNvPr id="25" name="s2-contract-takeaway">
            <a:extLst xmlns:a="http://schemas.openxmlformats.org/drawingml/2006/main">
              <a:ext uri="{FF2B5EF4-FFF2-40B4-BE49-F238E27FC236}">
                <a16:creationId xmlns:a16="http://schemas.microsoft.com/office/drawing/2014/main" id="{BC37A5E3-B095-419B-A351-4D1C613D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626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后续主结果统一标注为 train SSR；128 个 OOD seed 不承担性能结果含义。</a:t>
            </a:r>
          </a:p>
        </p:txBody>
      </p:sp>
    </p:spTree>
    <p:extLst>
      <p:ext uri="{BB962C8B-B14F-4D97-AF65-F5344CB8AC3E}">
        <p14:creationId xmlns:p14="http://schemas.microsoft.com/office/powerpoint/2010/main" val="1270319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3-top-rule">
            <a:extLst xmlns:a="http://schemas.openxmlformats.org/drawingml/2006/main">
              <a:ext uri="{FF2B5EF4-FFF2-40B4-BE49-F238E27FC236}">
                <a16:creationId xmlns:a16="http://schemas.microsoft.com/office/drawing/2014/main" id="{06D20602-75B4-4F9A-9143-97BACD52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DC51EF7D-50DE-4CB3-9954-876394F8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03 / 09</a:t>
            </a:r>
          </a:p>
        </p:txBody>
      </p:sp>
      <p:sp>
        <p:nvSpPr>
          <p:cNvPr id="3" name="s3-kicker">
            <a:extLst xmlns:a="http://schemas.openxmlformats.org/drawingml/2006/main">
              <a:ext uri="{FF2B5EF4-FFF2-40B4-BE49-F238E27FC236}">
                <a16:creationId xmlns:a16="http://schemas.microsoft.com/office/drawing/2014/main" id="{3DF47F8F-87F2-4FAA-A052-8FD3231D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45CB7"/>
                </a:solidFill>
              </a:defRPr>
            </a:pPr>
            <a:r>
              <a:rPr sz="975" b="1">
                <a:solidFill>
                  <a:srgbClr val="245CB7"/>
                </a:solidFill>
              </a:rPr>
              <a:t>THE PIPELINE</a:t>
            </a:r>
          </a:p>
        </p:txBody>
      </p:sp>
      <p:sp>
        <p:nvSpPr>
          <p:cNvPr id="4" name="s3-title">
            <a:extLst xmlns:a="http://schemas.openxmlformats.org/drawingml/2006/main">
              <a:ext uri="{FF2B5EF4-FFF2-40B4-BE49-F238E27FC236}">
                <a16:creationId xmlns:a16="http://schemas.microsoft.com/office/drawing/2014/main" id="{1BD4C8A8-A16E-41CE-BF13-6E8DEDEE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75" b="1">
                <a:solidFill>
                  <a:srgbClr val="13233A"/>
                </a:solidFill>
              </a:defRPr>
            </a:pPr>
            <a:r>
              <a:rPr sz="2775" b="1">
                <a:solidFill>
                  <a:srgbClr val="13233A"/>
                </a:solidFill>
              </a:rPr>
              <a:t>RLinf 的训练信号来自一条完整链路</a:t>
            </a:r>
          </a:p>
        </p:txBody>
      </p:sp>
      <p:sp>
        <p:nvSpPr>
          <p:cNvPr id="5" name="s3-flow-axis">
            <a:extLst xmlns:a="http://schemas.openxmlformats.org/drawingml/2006/main">
              <a:ext uri="{FF2B5EF4-FFF2-40B4-BE49-F238E27FC236}">
                <a16:creationId xmlns:a16="http://schemas.microsoft.com/office/drawing/2014/main" id="{D6A883A8-8A88-4E8F-A969-4D8CB64B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6" name="s3-flow-1-metric">
            <a:extLst xmlns:a="http://schemas.openxmlformats.org/drawingml/2006/main">
              <a:ext uri="{FF2B5EF4-FFF2-40B4-BE49-F238E27FC236}">
                <a16:creationId xmlns:a16="http://schemas.microsoft.com/office/drawing/2014/main" id="{18A5870D-6DE4-498F-861D-F0A08EF7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269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128 × 8 = 1024</a:t>
            </a:r>
          </a:p>
        </p:txBody>
      </p:sp>
      <p:sp>
        <p:nvSpPr>
          <p:cNvPr id="7" name="s3-flow-1-title">
            <a:extLst xmlns:a="http://schemas.openxmlformats.org/drawingml/2006/main">
              <a:ext uri="{FF2B5EF4-FFF2-40B4-BE49-F238E27FC236}">
                <a16:creationId xmlns:a16="http://schemas.microsoft.com/office/drawing/2014/main" id="{718C7036-D546-40AE-96E8-C96C7F95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9507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3233A"/>
                </a:solidFill>
              </a:defRPr>
            </a:pPr>
            <a:r>
              <a:rPr sz="1875" b="1">
                <a:solidFill>
                  <a:srgbClr val="13233A"/>
                </a:solidFill>
              </a:rPr>
              <a:t>Rollout 采样</a:t>
            </a:r>
          </a:p>
        </p:txBody>
      </p:sp>
      <p:sp>
        <p:nvSpPr>
          <p:cNvPr id="8" name="s3-flow-1-dot">
            <a:extLst xmlns:a="http://schemas.openxmlformats.org/drawingml/2006/main">
              <a:ext uri="{FF2B5EF4-FFF2-40B4-BE49-F238E27FC236}">
                <a16:creationId xmlns:a16="http://schemas.microsoft.com/office/drawing/2014/main" id="{17D290FA-4E09-44B6-ABD1-5B1A379A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9" name="s3-flow-1-body">
            <a:extLst xmlns:a="http://schemas.openxmlformats.org/drawingml/2006/main">
              <a:ext uri="{FF2B5EF4-FFF2-40B4-BE49-F238E27FC236}">
                <a16:creationId xmlns:a16="http://schemas.microsoft.com/office/drawing/2014/main" id="{D9F65F20-39C6-48EF-93B3-EDD7819B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95072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并行生成一轮轨迹。</a:t>
            </a:r>
          </a:p>
        </p:txBody>
      </p:sp>
      <p:sp>
        <p:nvSpPr>
          <p:cNvPr id="10" name="s3-flow-2-metric">
            <a:extLst xmlns:a="http://schemas.openxmlformats.org/drawingml/2006/main">
              <a:ext uri="{FF2B5EF4-FFF2-40B4-BE49-F238E27FC236}">
                <a16:creationId xmlns:a16="http://schemas.microsoft.com/office/drawing/2014/main" id="{9DF00CD3-9E44-4045-85B9-07682BC7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400300"/>
            <a:ext cx="20269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group size = 8</a:t>
            </a:r>
          </a:p>
        </p:txBody>
      </p:sp>
      <p:sp>
        <p:nvSpPr>
          <p:cNvPr id="11" name="s3-flow-2-title">
            <a:extLst xmlns:a="http://schemas.openxmlformats.org/drawingml/2006/main">
              <a:ext uri="{FF2B5EF4-FFF2-40B4-BE49-F238E27FC236}">
                <a16:creationId xmlns:a16="http://schemas.microsoft.com/office/drawing/2014/main" id="{E84F73A1-991B-469E-91D6-85CDBE4E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19400"/>
            <a:ext cx="19507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3233A"/>
                </a:solidFill>
              </a:defRPr>
            </a:pPr>
            <a:r>
              <a:rPr sz="1875" b="1">
                <a:solidFill>
                  <a:srgbClr val="13233A"/>
                </a:solidFill>
              </a:rPr>
              <a:t>Group 组织</a:t>
            </a:r>
          </a:p>
        </p:txBody>
      </p:sp>
      <p:sp>
        <p:nvSpPr>
          <p:cNvPr id="12" name="s3-flow-2-dot">
            <a:extLst xmlns:a="http://schemas.openxmlformats.org/drawingml/2006/main">
              <a:ext uri="{FF2B5EF4-FFF2-40B4-BE49-F238E27FC236}">
                <a16:creationId xmlns:a16="http://schemas.microsoft.com/office/drawing/2014/main" id="{FDDD0CCC-9B6F-437A-A237-FC0B821A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13" name="s3-flow-2-body">
            <a:extLst xmlns:a="http://schemas.openxmlformats.org/drawingml/2006/main">
              <a:ext uri="{FF2B5EF4-FFF2-40B4-BE49-F238E27FC236}">
                <a16:creationId xmlns:a16="http://schemas.microsoft.com/office/drawing/2014/main" id="{B9F566B8-44C6-49D6-AC36-96722A48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4038600"/>
            <a:ext cx="195072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按 group size 8 形成比较单元。</a:t>
            </a:r>
          </a:p>
        </p:txBody>
      </p:sp>
      <p:sp>
        <p:nvSpPr>
          <p:cNvPr id="14" name="s3-flow-3-metric">
            <a:extLst xmlns:a="http://schemas.openxmlformats.org/drawingml/2006/main">
              <a:ext uri="{FF2B5EF4-FFF2-40B4-BE49-F238E27FC236}">
                <a16:creationId xmlns:a16="http://schemas.microsoft.com/office/drawing/2014/main" id="{961CF7FE-3ED5-4BC1-8617-5CE6C55C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400300"/>
            <a:ext cx="20269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D65F42"/>
                </a:solidFill>
              </a:defRPr>
            </a:pPr>
            <a:r>
              <a:rPr sz="825" b="1">
                <a:solidFill>
                  <a:srgbClr val="D65F42"/>
                </a:solidFill>
              </a:rPr>
              <a:t>reward_type = action_level</a:t>
            </a:r>
          </a:p>
        </p:txBody>
      </p:sp>
      <p:sp>
        <p:nvSpPr>
          <p:cNvPr id="15" name="s3-flow-3-title">
            <a:extLst xmlns:a="http://schemas.openxmlformats.org/drawingml/2006/main">
              <a:ext uri="{FF2B5EF4-FFF2-40B4-BE49-F238E27FC236}">
                <a16:creationId xmlns:a16="http://schemas.microsoft.com/office/drawing/2014/main" id="{C2360A62-C00C-4F80-B7B2-45F4A3AA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819400"/>
            <a:ext cx="19507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3233A"/>
                </a:solidFill>
              </a:defRPr>
            </a:pPr>
            <a:r>
              <a:rPr sz="1875" b="1">
                <a:solidFill>
                  <a:srgbClr val="13233A"/>
                </a:solidFill>
              </a:rPr>
              <a:t>Action-level reward</a:t>
            </a:r>
          </a:p>
        </p:txBody>
      </p:sp>
      <p:sp>
        <p:nvSpPr>
          <p:cNvPr id="16" name="s3-flow-3-dot">
            <a:extLst xmlns:a="http://schemas.openxmlformats.org/drawingml/2006/main">
              <a:ext uri="{FF2B5EF4-FFF2-40B4-BE49-F238E27FC236}">
                <a16:creationId xmlns:a16="http://schemas.microsoft.com/office/drawing/2014/main" id="{14BC5CFA-BFDD-4808-B604-9E9B0071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F42"/>
          </a:solidFill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17" name="s3-flow-3-body">
            <a:extLst xmlns:a="http://schemas.openxmlformats.org/drawingml/2006/main">
              <a:ext uri="{FF2B5EF4-FFF2-40B4-BE49-F238E27FC236}">
                <a16:creationId xmlns:a16="http://schemas.microsoft.com/office/drawing/2014/main" id="{4EC2A4FD-A384-4943-BC88-615336C5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4038600"/>
            <a:ext cx="195072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把任务反馈落到动作粒度。</a:t>
            </a:r>
          </a:p>
        </p:txBody>
      </p:sp>
      <p:sp>
        <p:nvSpPr>
          <p:cNvPr id="18" name="s3-flow-4-metric">
            <a:extLst xmlns:a="http://schemas.openxmlformats.org/drawingml/2006/main">
              <a:ext uri="{FF2B5EF4-FFF2-40B4-BE49-F238E27FC236}">
                <a16:creationId xmlns:a16="http://schemas.microsoft.com/office/drawing/2014/main" id="{1FEA59EF-2250-46A1-9281-8393DF87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400300"/>
            <a:ext cx="20269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adv_type = grpo</a:t>
            </a:r>
          </a:p>
        </p:txBody>
      </p:sp>
      <p:sp>
        <p:nvSpPr>
          <p:cNvPr id="19" name="s3-flow-4-title">
            <a:extLst xmlns:a="http://schemas.openxmlformats.org/drawingml/2006/main">
              <a:ext uri="{FF2B5EF4-FFF2-40B4-BE49-F238E27FC236}">
                <a16:creationId xmlns:a16="http://schemas.microsoft.com/office/drawing/2014/main" id="{97325E95-4B85-44B1-9BCE-9BA8423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19400"/>
            <a:ext cx="19507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3233A"/>
                </a:solidFill>
              </a:defRPr>
            </a:pPr>
            <a:r>
              <a:rPr sz="1875" b="1">
                <a:solidFill>
                  <a:srgbClr val="13233A"/>
                </a:solidFill>
              </a:rPr>
              <a:t>GRPO 优势估计</a:t>
            </a:r>
          </a:p>
        </p:txBody>
      </p:sp>
      <p:sp>
        <p:nvSpPr>
          <p:cNvPr id="20" name="s3-flow-4-dot">
            <a:extLst xmlns:a="http://schemas.openxmlformats.org/drawingml/2006/main">
              <a:ext uri="{FF2B5EF4-FFF2-40B4-BE49-F238E27FC236}">
                <a16:creationId xmlns:a16="http://schemas.microsoft.com/office/drawing/2014/main" id="{D2A8D710-C55D-4DF7-9A51-2EE7F892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21" name="s3-flow-4-body">
            <a:extLst xmlns:a="http://schemas.openxmlformats.org/drawingml/2006/main">
              <a:ext uri="{FF2B5EF4-FFF2-40B4-BE49-F238E27FC236}">
                <a16:creationId xmlns:a16="http://schemas.microsoft.com/office/drawing/2014/main" id="{19C68E70-8876-4B7D-A120-B71E81DA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4038600"/>
            <a:ext cx="195072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计算用于 actor 更新的优势信号。</a:t>
            </a:r>
          </a:p>
        </p:txBody>
      </p:sp>
      <p:sp>
        <p:nvSpPr>
          <p:cNvPr id="22" name="s3-flow-5-metric">
            <a:extLst xmlns:a="http://schemas.openxmlformats.org/drawingml/2006/main">
              <a:ext uri="{FF2B5EF4-FFF2-40B4-BE49-F238E27FC236}">
                <a16:creationId xmlns:a16="http://schemas.microsoft.com/office/drawing/2014/main" id="{BC8AC6B1-5670-43F1-A317-6382CA9B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400300"/>
            <a:ext cx="20269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is_lora = true · lr = 2.0e-4</a:t>
            </a:r>
          </a:p>
        </p:txBody>
      </p:sp>
      <p:sp>
        <p:nvSpPr>
          <p:cNvPr id="23" name="s3-flow-5-title">
            <a:extLst xmlns:a="http://schemas.openxmlformats.org/drawingml/2006/main">
              <a:ext uri="{FF2B5EF4-FFF2-40B4-BE49-F238E27FC236}">
                <a16:creationId xmlns:a16="http://schemas.microsoft.com/office/drawing/2014/main" id="{F1381FBA-B34A-4FE6-A4FE-61D8B26C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19400"/>
            <a:ext cx="19507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3233A"/>
                </a:solidFill>
              </a:defRPr>
            </a:pPr>
            <a:r>
              <a:rPr sz="1875" b="1">
                <a:solidFill>
                  <a:srgbClr val="13233A"/>
                </a:solidFill>
              </a:rPr>
              <a:t>LoRA 更新</a:t>
            </a:r>
          </a:p>
        </p:txBody>
      </p:sp>
      <p:sp>
        <p:nvSpPr>
          <p:cNvPr id="24" name="s3-flow-5-dot">
            <a:extLst xmlns:a="http://schemas.openxmlformats.org/drawingml/2006/main">
              <a:ext uri="{FF2B5EF4-FFF2-40B4-BE49-F238E27FC236}">
                <a16:creationId xmlns:a16="http://schemas.microsoft.com/office/drawing/2014/main" id="{C79FD373-DCC4-48E1-B890-1DF82E18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25" name="s3-flow-5-body">
            <a:extLst xmlns:a="http://schemas.openxmlformats.org/drawingml/2006/main">
              <a:ext uri="{FF2B5EF4-FFF2-40B4-BE49-F238E27FC236}">
                <a16:creationId xmlns:a16="http://schemas.microsoft.com/office/drawing/2014/main" id="{4E628949-1C20-466A-A1CB-D40699F6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4038600"/>
            <a:ext cx="195072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在参数高效更新范围内优化策略。</a:t>
            </a:r>
          </a:p>
        </p:txBody>
      </p:sp>
      <p:sp>
        <p:nvSpPr>
          <p:cNvPr id="26" name="s3-flow-result-rule">
            <a:extLst xmlns:a="http://schemas.openxmlformats.org/drawingml/2006/main">
              <a:ext uri="{FF2B5EF4-FFF2-40B4-BE49-F238E27FC236}">
                <a16:creationId xmlns:a16="http://schemas.microsoft.com/office/drawing/2014/main" id="{0247B92F-C029-4D4C-8B2E-88161C7D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5CB7"/>
            </a:solidFill>
            <a:prstDash val="solid"/>
          </a:ln>
        </p:spPr>
      </p:sp>
      <p:sp>
        <p:nvSpPr>
          <p:cNvPr id="27" name="s3-flow-result-label">
            <a:extLst xmlns:a="http://schemas.openxmlformats.org/drawingml/2006/main">
              <a:ext uri="{FF2B5EF4-FFF2-40B4-BE49-F238E27FC236}">
                <a16:creationId xmlns:a16="http://schemas.microsoft.com/office/drawing/2014/main" id="{4761FD44-2C84-411F-9BFD-B791D4CC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训练配方的含义</a:t>
            </a:r>
          </a:p>
        </p:txBody>
      </p:sp>
      <p:sp>
        <p:nvSpPr>
          <p:cNvPr id="28" name="s3-flow-result">
            <a:extLst xmlns:a="http://schemas.openxmlformats.org/drawingml/2006/main">
              <a:ext uri="{FF2B5EF4-FFF2-40B4-BE49-F238E27FC236}">
                <a16:creationId xmlns:a16="http://schemas.microsoft.com/office/drawing/2014/main" id="{37869F16-3F7B-4306-98C0-E7CADBF7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24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性能归因应落在 rollout、reward、优化与参数更新的完整路径上</a:t>
            </a:r>
          </a:p>
        </p:txBody>
      </p:sp>
    </p:spTree>
    <p:extLst>
      <p:ext uri="{BB962C8B-B14F-4D97-AF65-F5344CB8AC3E}">
        <p14:creationId xmlns:p14="http://schemas.microsoft.com/office/powerpoint/2010/main" val="772859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4-top-rule">
            <a:extLst xmlns:a="http://schemas.openxmlformats.org/drawingml/2006/main">
              <a:ext uri="{FF2B5EF4-FFF2-40B4-BE49-F238E27FC236}">
                <a16:creationId xmlns:a16="http://schemas.microsoft.com/office/drawing/2014/main" id="{02696C80-8CB9-4293-9A47-F95E9070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ABB91087-D86A-416F-9BBB-B219FDD6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04 / 09</a:t>
            </a:r>
          </a:p>
        </p:txBody>
      </p:sp>
      <p:sp>
        <p:nvSpPr>
          <p:cNvPr id="3" name="s4-kicker">
            <a:extLst xmlns:a="http://schemas.openxmlformats.org/drawingml/2006/main">
              <a:ext uri="{FF2B5EF4-FFF2-40B4-BE49-F238E27FC236}">
                <a16:creationId xmlns:a16="http://schemas.microsoft.com/office/drawing/2014/main" id="{D5A1CE6A-5E1C-437D-9A62-6084ED1A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45CB7"/>
                </a:solidFill>
              </a:defRPr>
            </a:pPr>
            <a:r>
              <a:rPr sz="975" b="1">
                <a:solidFill>
                  <a:srgbClr val="245CB7"/>
                </a:solidFill>
              </a:rPr>
              <a:t>PAPER EVIDENCE</a:t>
            </a:r>
          </a:p>
        </p:txBody>
      </p:sp>
      <p:sp>
        <p:nvSpPr>
          <p:cNvPr id="4" name="s4-title">
            <a:extLst xmlns:a="http://schemas.openxmlformats.org/drawingml/2006/main">
              <a:ext uri="{FF2B5EF4-FFF2-40B4-BE49-F238E27FC236}">
                <a16:creationId xmlns:a16="http://schemas.microsoft.com/office/drawing/2014/main" id="{96CD2355-9BAD-4640-969F-9020AE5C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75" b="1">
                <a:solidFill>
                  <a:srgbClr val="13233A"/>
                </a:solidFill>
              </a:defRPr>
            </a:pPr>
            <a:r>
              <a:rPr sz="2775" b="1">
                <a:solidFill>
                  <a:srgbClr val="13233A"/>
                </a:solidFill>
              </a:rPr>
              <a:t>共享基础，但不是同构训练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76300" y="2247900"/>
          <a:ext xmlns:a="http://schemas.openxmlformats.org/drawingml/2006/main" cx="9906000" cy="3333750"/>
        </p:xfrm>
        <a:graphic xmlns:a="http://schemas.openxmlformats.org/drawingml/2006/main">
          <a:graphicData uri="http://schemas.openxmlformats.org/drawingml/2006/table">
            <a:tbl>
              <a:tblPr firstRow="1" firstCol="1" bandRow="0"/>
              <a:tblGrid>
                <a:gridCol w="4953000"/>
                <a:gridCol w="4953000"/>
              </a:tblGrid>
              <a:tr h="555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RLinf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SimpleVLA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共同基础：SFT 模型、train/eval seeds、模型实现和 GRPO 保持一致。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共同基础：同左；valid action mask 工程等价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bf16；rollout batch 1024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混合精度；rollout batch 512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learning rate 2.0e-4；LoRA=true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learning rate 5e-6；全参数训练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固定轮次后过滤 collected trajectories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每条 rollout 后即时过滤并缓存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action-level reward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token-level success reward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4-caption">
            <a:extLst xmlns:a="http://schemas.openxmlformats.org/drawingml/2006/main">
              <a:ext uri="{FF2B5EF4-FFF2-40B4-BE49-F238E27FC236}">
                <a16:creationId xmlns:a16="http://schemas.microsoft.com/office/drawing/2014/main" id="{C1EC8263-5B7A-4A9C-8EFE-8E40CA2E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C718A"/>
                </a:solidFill>
              </a:defRPr>
            </a:pPr>
            <a:r>
              <a:rPr sz="825" b="0">
                <a:solidFill>
                  <a:srgbClr val="5C718A"/>
                </a:solidFill>
              </a:rPr>
              <a:t>这是完整训练系统的实际比较，不是单一算法组件的因果消融。</a:t>
            </a:r>
          </a:p>
        </p:txBody>
      </p:sp>
      <p:sp>
        <p:nvSpPr>
          <p:cNvPr id="7" name="s4-source-frame">
            <a:extLst xmlns:a="http://schemas.openxmlformats.org/drawingml/2006/main">
              <a:ext uri="{FF2B5EF4-FFF2-40B4-BE49-F238E27FC236}">
                <a16:creationId xmlns:a16="http://schemas.microsoft.com/office/drawing/2014/main" id="{F8272CAA-485E-4F87-B0C0-629A9549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5"/>
            </a:solidFill>
            <a:prstDash val="solid"/>
          </a:ln>
        </p:spPr>
      </p:sp>
      <p:sp>
        <p:nvSpPr>
          <p:cNvPr id="8" name="s4-source-label">
            <a:extLst xmlns:a="http://schemas.openxmlformats.org/drawingml/2006/main">
              <a:ext uri="{FF2B5EF4-FFF2-40B4-BE49-F238E27FC236}">
                <a16:creationId xmlns:a16="http://schemas.microsoft.com/office/drawing/2014/main" id="{18A035EE-CAB5-4D59-B001-95D30802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33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9B5C45"/>
                </a:solidFill>
              </a:defRPr>
            </a:pPr>
            <a:r>
              <a:rPr sz="750" b="1">
                <a:solidFill>
                  <a:srgbClr val="9B5C45"/>
                </a:solidFill>
              </a:rPr>
              <a:t>SOURCE CROP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9701814844e1f"/>
          <a:stretch xmlns:a="http://schemas.openxmlformats.org/drawingml/2006/main"/>
        </p:blipFill>
        <p:spPr>
          <a:xfrm xmlns:a="http://schemas.openxmlformats.org/drawingml/2006/main">
            <a:off x="8686800" y="1123950"/>
            <a:ext cx="2628900" cy="647700"/>
          </a:xfrm>
          <a:prstGeom xmlns:a="http://schemas.openxmlformats.org/drawingml/2006/main" prst="rect">
            <a:avLst/>
          </a:prstGeom>
        </p:spPr>
      </p:pic>
      <p:sp>
        <p:nvSpPr>
          <p:cNvPr id="10" name="s4-data-takeaway-rule">
            <a:extLst xmlns:a="http://schemas.openxmlformats.org/drawingml/2006/main">
              <a:ext uri="{FF2B5EF4-FFF2-40B4-BE49-F238E27FC236}">
                <a16:creationId xmlns:a16="http://schemas.microsoft.com/office/drawing/2014/main" id="{D9408BBC-B297-47C4-A2A5-7817027E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1" name="s4-data-takeaway-label">
            <a:extLst xmlns:a="http://schemas.openxmlformats.org/drawingml/2006/main">
              <a:ext uri="{FF2B5EF4-FFF2-40B4-BE49-F238E27FC236}">
                <a16:creationId xmlns:a16="http://schemas.microsoft.com/office/drawing/2014/main" id="{6CDF9D78-0DA0-48DB-90A3-730A4A21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626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页面结论</a:t>
            </a:r>
          </a:p>
        </p:txBody>
      </p:sp>
      <p:sp>
        <p:nvSpPr>
          <p:cNvPr id="12" name="s4-data-takeaway">
            <a:extLst xmlns:a="http://schemas.openxmlformats.org/drawingml/2006/main">
              <a:ext uri="{FF2B5EF4-FFF2-40B4-BE49-F238E27FC236}">
                <a16:creationId xmlns:a16="http://schemas.microsoft.com/office/drawing/2014/main" id="{F48F18B0-6395-4EB0-A5C1-F31AB0D8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905500"/>
            <a:ext cx="836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3233A"/>
                </a:solidFill>
              </a:defRPr>
            </a:pPr>
            <a:r>
              <a:rPr sz="1200" b="1">
                <a:solidFill>
                  <a:srgbClr val="13233A"/>
                </a:solidFill>
              </a:rPr>
              <a:t>共享基础不等于同构训练，后续结果按系统级差异解读。</a:t>
            </a:r>
          </a:p>
        </p:txBody>
      </p:sp>
    </p:spTree>
    <p:extLst>
      <p:ext uri="{BB962C8B-B14F-4D97-AF65-F5344CB8AC3E}">
        <p14:creationId xmlns:p14="http://schemas.microsoft.com/office/powerpoint/2010/main" val="181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5-top-rule">
            <a:extLst xmlns:a="http://schemas.openxmlformats.org/drawingml/2006/main">
              <a:ext uri="{FF2B5EF4-FFF2-40B4-BE49-F238E27FC236}">
                <a16:creationId xmlns:a16="http://schemas.microsoft.com/office/drawing/2014/main" id="{35AC9AB0-D6C5-453A-8BF4-3F0D14DA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3EA15761-5400-404B-908A-6E2A23A5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05 / 09</a:t>
            </a:r>
          </a:p>
        </p:txBody>
      </p:sp>
      <p:sp>
        <p:nvSpPr>
          <p:cNvPr id="3" name="s5-kicker">
            <a:extLst xmlns:a="http://schemas.openxmlformats.org/drawingml/2006/main">
              <a:ext uri="{FF2B5EF4-FFF2-40B4-BE49-F238E27FC236}">
                <a16:creationId xmlns:a16="http://schemas.microsoft.com/office/drawing/2014/main" id="{5FA89C9D-6DC9-4513-A3AE-792D7842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45CB7"/>
                </a:solidFill>
              </a:defRPr>
            </a:pPr>
            <a:r>
              <a:rPr sz="975" b="1">
                <a:solidFill>
                  <a:srgbClr val="245CB7"/>
                </a:solidFill>
              </a:rPr>
              <a:t>RESULT FOCUS</a:t>
            </a:r>
          </a:p>
        </p:txBody>
      </p:sp>
      <p:sp>
        <p:nvSpPr>
          <p:cNvPr id="4" name="s5-title">
            <a:extLst xmlns:a="http://schemas.openxmlformats.org/drawingml/2006/main">
              <a:ext uri="{FF2B5EF4-FFF2-40B4-BE49-F238E27FC236}">
                <a16:creationId xmlns:a16="http://schemas.microsoft.com/office/drawing/2014/main" id="{30B1B90A-806B-4364-A8CB-E5181D91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75" b="1">
                <a:solidFill>
                  <a:srgbClr val="13233A"/>
                </a:solidFill>
              </a:defRPr>
            </a:pPr>
            <a:r>
              <a:rPr sz="2775" b="1">
                <a:solidFill>
                  <a:srgbClr val="13233A"/>
                </a:solidFill>
              </a:rPr>
              <a:t>8/8 任务提升，平均 train SSR 显著上升</a:t>
            </a:r>
          </a:p>
        </p:txBody>
      </p:sp>
      <p:sp>
        <p:nvSpPr>
          <p:cNvPr id="5" name="s5-chart-bg">
            <a:extLst xmlns:a="http://schemas.openxmlformats.org/drawingml/2006/main">
              <a:ext uri="{FF2B5EF4-FFF2-40B4-BE49-F238E27FC236}">
                <a16:creationId xmlns:a16="http://schemas.microsoft.com/office/drawing/2014/main" id="{66A3BC5C-B440-4AE9-B0A9-7470A2D1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972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6" name="s5-chart-axis-label">
            <a:extLst xmlns:a="http://schemas.openxmlformats.org/drawingml/2006/main">
              <a:ext uri="{FF2B5EF4-FFF2-40B4-BE49-F238E27FC236}">
                <a16:creationId xmlns:a16="http://schemas.microsoft.com/office/drawing/2014/main" id="{247E617F-322E-4424-BF97-AFDAA46F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train SSR (%)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914400" y="2647950"/>
          <a:ext xmlns:a="http://schemas.openxmlformats.org/drawingml/2006/main" cx="653415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83a11d436c4750"/>
          </a:graphicData>
        </a:graphic>
      </p:graphicFrame>
      <p:sp>
        <p:nvSpPr>
          <p:cNvPr id="8" name="s5-callout-bg">
            <a:extLst xmlns:a="http://schemas.openxmlformats.org/drawingml/2006/main">
              <a:ext uri="{FF2B5EF4-FFF2-40B4-BE49-F238E27FC236}">
                <a16:creationId xmlns:a16="http://schemas.microsoft.com/office/drawing/2014/main" id="{3649E30D-9E0D-4831-970C-0074EABD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9" name="s5-callout-label">
            <a:extLst xmlns:a="http://schemas.openxmlformats.org/drawingml/2006/main">
              <a:ext uri="{FF2B5EF4-FFF2-40B4-BE49-F238E27FC236}">
                <a16:creationId xmlns:a16="http://schemas.microsoft.com/office/drawing/2014/main" id="{D8CCA119-737D-49D0-AA40-3D011CDC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核心结果</a:t>
            </a:r>
          </a:p>
        </p:txBody>
      </p:sp>
      <p:sp>
        <p:nvSpPr>
          <p:cNvPr id="10" name="s5-callout-value">
            <a:extLst xmlns:a="http://schemas.openxmlformats.org/drawingml/2006/main">
              <a:ext uri="{FF2B5EF4-FFF2-40B4-BE49-F238E27FC236}">
                <a16:creationId xmlns:a16="http://schemas.microsoft.com/office/drawing/2014/main" id="{E86A2B7B-94E6-4797-A7EC-89E23921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2971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800" b="1">
                <a:solidFill>
                  <a:srgbClr val="13233A"/>
                </a:solidFill>
              </a:defRPr>
            </a:pPr>
            <a:r>
              <a:rPr sz="1800" b="1">
                <a:solidFill>
                  <a:srgbClr val="13233A"/>
                </a:solidFill>
              </a:rPr>
              <a:t>8/8 任务提升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800" b="1">
                <a:solidFill>
                  <a:srgbClr val="13233A"/>
                </a:solidFill>
              </a:defRPr>
            </a:pPr>
            <a:r>
              <a:rPr sz="1800" b="1">
                <a:solidFill>
                  <a:srgbClr val="13233A"/>
                </a:solidFill>
              </a:rPr>
              <a:t>train SSR 24.48%→84.63%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800" b="1">
                <a:solidFill>
                  <a:srgbClr val="13233A"/>
                </a:solidFill>
              </a:defRPr>
            </a:pPr>
            <a:r>
              <a:rPr sz="1800" b="1">
                <a:solidFill>
                  <a:srgbClr val="13233A"/>
                </a:solidFill>
              </a:rPr>
              <a:t>+60.15 个百分点</a:t>
            </a:r>
          </a:p>
        </p:txBody>
      </p:sp>
      <p:sp>
        <p:nvSpPr>
          <p:cNvPr id="11" name="s5-callout-detail">
            <a:extLst xmlns:a="http://schemas.openxmlformats.org/drawingml/2006/main">
              <a:ext uri="{FF2B5EF4-FFF2-40B4-BE49-F238E27FC236}">
                <a16:creationId xmlns:a16="http://schemas.microsoft.com/office/drawing/2014/main" id="{E9FC76F4-6FC6-49DE-9629-85489F42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960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任务级结果显示，RLinf 的 RL train SSR 增益不是单个任务的偶然现象；该页不报告 OOD SSR。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786a2467d4cfa"/>
          <a:stretch xmlns:a="http://schemas.openxmlformats.org/drawingml/2006/main"/>
        </p:blipFill>
        <p:spPr>
          <a:xfrm xmlns:a="http://schemas.openxmlformats.org/drawingml/2006/main">
            <a:off x="9232549" y="4972050"/>
            <a:ext cx="851601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938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op-rule">
            <a:extLst xmlns:a="http://schemas.openxmlformats.org/drawingml/2006/main">
              <a:ext uri="{FF2B5EF4-FFF2-40B4-BE49-F238E27FC236}">
                <a16:creationId xmlns:a16="http://schemas.microsoft.com/office/drawing/2014/main" id="{F74D59ED-728D-493D-9D5B-2C96733C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C00A46E0-782F-4F12-BD65-3335C474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06 / 09</a:t>
            </a:r>
          </a:p>
        </p:txBody>
      </p:sp>
      <p:sp>
        <p:nvSpPr>
          <p:cNvPr id="3" name="s6-kicker">
            <a:extLst xmlns:a="http://schemas.openxmlformats.org/drawingml/2006/main">
              <a:ext uri="{FF2B5EF4-FFF2-40B4-BE49-F238E27FC236}">
                <a16:creationId xmlns:a16="http://schemas.microsoft.com/office/drawing/2014/main" id="{F065A235-6DA5-4962-B1CF-642A04E4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RLinf 的 train SSR 增益是否超过 SimpleVLA？</a:t>
            </a:r>
          </a:p>
        </p:txBody>
      </p:sp>
      <p:sp>
        <p:nvSpPr>
          <p:cNvPr id="4" name="s6-title">
            <a:extLst xmlns:a="http://schemas.openxmlformats.org/drawingml/2006/main">
              <a:ext uri="{FF2B5EF4-FFF2-40B4-BE49-F238E27FC236}">
                <a16:creationId xmlns:a16="http://schemas.microsoft.com/office/drawing/2014/main" id="{640A3794-3241-40D1-B981-2C1C84E6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325" b="1">
                <a:solidFill>
                  <a:srgbClr val="13233A"/>
                </a:solidFill>
              </a:defRPr>
            </a:pPr>
            <a:r>
              <a:rPr sz="2325" b="1">
                <a:solidFill>
                  <a:srgbClr val="13233A"/>
                </a:solidFill>
              </a:rPr>
              <a:t>RLinf 的平均 train SSR 增幅高于 SimpleVLA</a:t>
            </a:r>
          </a:p>
        </p:txBody>
      </p:sp>
      <p:sp>
        <p:nvSpPr>
          <p:cNvPr id="5" name="s6-argument-1-rule">
            <a:extLst xmlns:a="http://schemas.openxmlformats.org/drawingml/2006/main">
              <a:ext uri="{FF2B5EF4-FFF2-40B4-BE49-F238E27FC236}">
                <a16:creationId xmlns:a16="http://schemas.microsoft.com/office/drawing/2014/main" id="{1369D1FE-A543-4A5C-9874-330E25C6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115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0">
            <a:solidFill>
              <a:srgbClr val="245CB7"/>
            </a:solidFill>
            <a:prstDash val="solid"/>
          </a:ln>
        </p:spPr>
      </p:sp>
      <p:sp>
        <p:nvSpPr>
          <p:cNvPr id="6" name="s6-argument-1-label">
            <a:extLst xmlns:a="http://schemas.openxmlformats.org/drawingml/2006/main">
              <a:ext uri="{FF2B5EF4-FFF2-40B4-BE49-F238E27FC236}">
                <a16:creationId xmlns:a16="http://schemas.microsoft.com/office/drawing/2014/main" id="{3D96A69A-536E-41DD-A9CD-AC94177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1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RLinf</a:t>
            </a:r>
          </a:p>
        </p:txBody>
      </p:sp>
      <p:sp>
        <p:nvSpPr>
          <p:cNvPr id="7" name="s6-argument-1-headline">
            <a:extLst xmlns:a="http://schemas.openxmlformats.org/drawingml/2006/main">
              <a:ext uri="{FF2B5EF4-FFF2-40B4-BE49-F238E27FC236}">
                <a16:creationId xmlns:a16="http://schemas.microsoft.com/office/drawing/2014/main" id="{3C0FC31E-831D-4DA4-8D87-66E2B6EA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5924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3233A"/>
                </a:solidFill>
              </a:defRPr>
            </a:pPr>
            <a:r>
              <a:rPr sz="2550" b="1">
                <a:solidFill>
                  <a:srgbClr val="13233A"/>
                </a:solidFill>
              </a:rPr>
              <a:t>train SSR 24.48% → 84.63%</a:t>
            </a:r>
          </a:p>
        </p:txBody>
      </p:sp>
      <p:sp>
        <p:nvSpPr>
          <p:cNvPr id="8" name="s6-argument-1-point-1">
            <a:extLst xmlns:a="http://schemas.openxmlformats.org/drawingml/2006/main">
              <a:ext uri="{FF2B5EF4-FFF2-40B4-BE49-F238E27FC236}">
                <a16:creationId xmlns:a16="http://schemas.microsoft.com/office/drawing/2014/main" id="{5BFB06E1-40FD-4EFD-909F-F02D4CD6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88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718A"/>
                </a:solidFill>
              </a:defRPr>
            </a:pPr>
            <a:r>
              <a:rPr sz="1200" b="0">
                <a:solidFill>
                  <a:srgbClr val="5C718A"/>
                </a:solidFill>
              </a:rPr>
              <a:t>→ 平均提升 +60.15 个百分点</a:t>
            </a:r>
          </a:p>
        </p:txBody>
      </p:sp>
      <p:sp>
        <p:nvSpPr>
          <p:cNvPr id="9" name="s6-argument-1-point-2">
            <a:extLst xmlns:a="http://schemas.openxmlformats.org/drawingml/2006/main">
              <a:ext uri="{FF2B5EF4-FFF2-40B4-BE49-F238E27FC236}">
                <a16:creationId xmlns:a16="http://schemas.microsoft.com/office/drawing/2014/main" id="{07F5B725-6D9E-41BC-B4F1-449F7E1E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588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718A"/>
                </a:solidFill>
              </a:defRPr>
            </a:pPr>
            <a:r>
              <a:rPr sz="1200" b="0">
                <a:solidFill>
                  <a:srgbClr val="5C718A"/>
                </a:solidFill>
              </a:rPr>
              <a:t>→ 完整训练系统的平均变化更大</a:t>
            </a:r>
          </a:p>
        </p:txBody>
      </p:sp>
      <p:sp>
        <p:nvSpPr>
          <p:cNvPr id="10" name="s6-argument-2-rule">
            <a:extLst xmlns:a="http://schemas.openxmlformats.org/drawingml/2006/main">
              <a:ext uri="{FF2B5EF4-FFF2-40B4-BE49-F238E27FC236}">
                <a16:creationId xmlns:a16="http://schemas.microsoft.com/office/drawing/2014/main" id="{00FE62C8-E3D7-430F-A8B3-FE9E9747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451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0">
            <a:solidFill>
              <a:srgbClr val="245CB7"/>
            </a:solidFill>
            <a:prstDash val="solid"/>
          </a:ln>
        </p:spPr>
      </p:sp>
      <p:sp>
        <p:nvSpPr>
          <p:cNvPr id="11" name="s6-argument-2-label">
            <a:extLst xmlns:a="http://schemas.openxmlformats.org/drawingml/2006/main">
              <a:ext uri="{FF2B5EF4-FFF2-40B4-BE49-F238E27FC236}">
                <a16:creationId xmlns:a16="http://schemas.microsoft.com/office/drawing/2014/main" id="{4FAE16F1-A97A-4FFB-82FC-D8881E9D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SimpleVLA</a:t>
            </a:r>
          </a:p>
        </p:txBody>
      </p:sp>
      <p:sp>
        <p:nvSpPr>
          <p:cNvPr id="12" name="s6-argument-2-headline">
            <a:extLst xmlns:a="http://schemas.openxmlformats.org/drawingml/2006/main">
              <a:ext uri="{FF2B5EF4-FFF2-40B4-BE49-F238E27FC236}">
                <a16:creationId xmlns:a16="http://schemas.microsoft.com/office/drawing/2014/main" id="{70911D2E-2AFC-428E-8753-833E0411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4324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>
                <a:solidFill>
                  <a:srgbClr val="13233A"/>
                </a:solidFill>
              </a:defRPr>
            </a:pPr>
            <a:r>
              <a:rPr sz="2100" b="1">
                <a:solidFill>
                  <a:srgbClr val="13233A"/>
                </a:solidFill>
              </a:rPr>
              <a:t>train SSR 34.40% → 72.18%</a:t>
            </a:r>
          </a:p>
        </p:txBody>
      </p:sp>
      <p:sp>
        <p:nvSpPr>
          <p:cNvPr id="13" name="s6-argument-2-point-1">
            <a:extLst xmlns:a="http://schemas.openxmlformats.org/drawingml/2006/main">
              <a:ext uri="{FF2B5EF4-FFF2-40B4-BE49-F238E27FC236}">
                <a16:creationId xmlns:a16="http://schemas.microsoft.com/office/drawing/2014/main" id="{4CC855ED-327D-4E8C-BAB2-0F3B7C38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386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718A"/>
                </a:solidFill>
              </a:defRPr>
            </a:pPr>
            <a:r>
              <a:rPr sz="1200" b="0">
                <a:solidFill>
                  <a:srgbClr val="5C718A"/>
                </a:solidFill>
              </a:rPr>
              <a:t>→ 平均提升 +37.78 个百分点</a:t>
            </a:r>
          </a:p>
        </p:txBody>
      </p:sp>
      <p:sp>
        <p:nvSpPr>
          <p:cNvPr id="14" name="s6-argument-2-point-2">
            <a:extLst xmlns:a="http://schemas.openxmlformats.org/drawingml/2006/main">
              <a:ext uri="{FF2B5EF4-FFF2-40B4-BE49-F238E27FC236}">
                <a16:creationId xmlns:a16="http://schemas.microsoft.com/office/drawing/2014/main" id="{999B5C8E-026F-4E66-98A6-5223A4E8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529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718A"/>
                </a:solidFill>
              </a:defRPr>
            </a:pPr>
            <a:r>
              <a:rPr sz="1200" b="0">
                <a:solidFill>
                  <a:srgbClr val="5C718A"/>
                </a:solidFill>
              </a:rPr>
              <a:t>→ 作为完整系统对照，而非单变量基线</a:t>
            </a:r>
          </a:p>
        </p:txBody>
      </p:sp>
      <p:sp>
        <p:nvSpPr>
          <p:cNvPr id="15" name="s6-argument-divider">
            <a:extLst xmlns:a="http://schemas.openxmlformats.org/drawingml/2006/main">
              <a:ext uri="{FF2B5EF4-FFF2-40B4-BE49-F238E27FC236}">
                <a16:creationId xmlns:a16="http://schemas.microsoft.com/office/drawing/2014/main" id="{0A9244EB-E5DE-48F7-B053-0D8C345E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24100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3"/>
          </a:solidFill>
          <a:ln xmlns:a="http://schemas.openxmlformats.org/drawingml/2006/main" w="0">
            <a:solidFill>
              <a:srgbClr val="C9D5E3"/>
            </a:solidFill>
            <a:prstDash val="solid"/>
          </a:ln>
        </p:spPr>
      </p:sp>
      <p:sp>
        <p:nvSpPr>
          <p:cNvPr id="16" name="s6-implication-label">
            <a:extLst xmlns:a="http://schemas.openxmlformats.org/drawingml/2006/main">
              <a:ext uri="{FF2B5EF4-FFF2-40B4-BE49-F238E27FC236}">
                <a16:creationId xmlns:a16="http://schemas.microsoft.com/office/drawing/2014/main" id="{090D4918-81BA-4DD2-AD22-3DCF15B2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一句话判断</a:t>
            </a:r>
          </a:p>
        </p:txBody>
      </p:sp>
      <p:sp>
        <p:nvSpPr>
          <p:cNvPr id="17" name="s6-implication">
            <a:extLst xmlns:a="http://schemas.openxmlformats.org/drawingml/2006/main">
              <a:ext uri="{FF2B5EF4-FFF2-40B4-BE49-F238E27FC236}">
                <a16:creationId xmlns:a16="http://schemas.microsoft.com/office/drawing/2014/main" id="{3B340C0B-F207-4AAE-8C39-4DC31EC9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9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RLinf 的平均 train SSR 增幅更大，但证据指向系统级效果，不是 OOD SSR 或独立算法贡献。</a:t>
            </a:r>
          </a:p>
        </p:txBody>
      </p:sp>
    </p:spTree>
    <p:extLst>
      <p:ext uri="{BB962C8B-B14F-4D97-AF65-F5344CB8AC3E}">
        <p14:creationId xmlns:p14="http://schemas.microsoft.com/office/powerpoint/2010/main" val="647724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0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7-top-rule">
            <a:extLst xmlns:a="http://schemas.openxmlformats.org/drawingml/2006/main">
              <a:ext uri="{FF2B5EF4-FFF2-40B4-BE49-F238E27FC236}">
                <a16:creationId xmlns:a16="http://schemas.microsoft.com/office/drawing/2014/main" id="{AF26C165-479A-4F70-8CE4-F0FE8EA6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2CE7A6FD-6402-4EBA-8E1A-E46060AB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07 / 09</a:t>
            </a:r>
          </a:p>
        </p:txBody>
      </p:sp>
      <p:sp>
        <p:nvSpPr>
          <p:cNvPr id="3" name="s7-answer-kicker">
            <a:extLst xmlns:a="http://schemas.openxmlformats.org/drawingml/2006/main">
              <a:ext uri="{FF2B5EF4-FFF2-40B4-BE49-F238E27FC236}">
                <a16:creationId xmlns:a16="http://schemas.microsoft.com/office/drawing/2014/main" id="{D0CAF131-3605-42EC-AD62-B8727DC6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THE ANSWER</a:t>
            </a:r>
          </a:p>
        </p:txBody>
      </p:sp>
      <p:sp>
        <p:nvSpPr>
          <p:cNvPr id="4" name="s7-answer-title">
            <a:extLst xmlns:a="http://schemas.openxmlformats.org/drawingml/2006/main">
              <a:ext uri="{FF2B5EF4-FFF2-40B4-BE49-F238E27FC236}">
                <a16:creationId xmlns:a16="http://schemas.microsoft.com/office/drawing/2014/main" id="{61B36CA8-D6A9-469F-8046-3DE4BEDE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47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>
                <a:solidFill>
                  <a:srgbClr val="13233A"/>
                </a:solidFill>
              </a:defRPr>
            </a:pPr>
            <a:r>
              <a:rPr sz="2850" b="1">
                <a:solidFill>
                  <a:srgbClr val="13233A"/>
                </a:solidFill>
              </a:rPr>
              <a:t>初始化与评估温度会改变单点 SSR</a:t>
            </a:r>
          </a:p>
        </p:txBody>
      </p:sp>
      <p:sp>
        <p:nvSpPr>
          <p:cNvPr id="5" name="s7-answer-claim">
            <a:extLst xmlns:a="http://schemas.openxmlformats.org/drawingml/2006/main">
              <a:ext uri="{FF2B5EF4-FFF2-40B4-BE49-F238E27FC236}">
                <a16:creationId xmlns:a16="http://schemas.microsoft.com/office/drawing/2014/main" id="{7B5094E8-2632-4737-A68F-617D40CD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在 place_empty_cup 上，pi0 与 pi05 的 SFT 基线不同，OFT 在 Temp_eval=-1 与 1.6 下的 PPO/GRPO 结果也不同；部分温度结果未重跑，且 RL 结果统一取 50 step。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85800" y="3105150"/>
          <a:ext xmlns:a="http://schemas.openxmlformats.org/drawingml/2006/main" cx="6286500" cy="1847850"/>
        </p:xfrm>
        <a:graphic xmlns:a="http://schemas.openxmlformats.org/drawingml/2006/main">
          <a:graphicData uri="http://schemas.openxmlformats.org/drawingml/2006/table">
            <a:tbl>
              <a:tblPr firstRow="1" firstCol="1" bandRow="0"/>
              <a:tblGrid>
                <a:gridCol w="1571625"/>
                <a:gridCol w="1571625"/>
                <a:gridCol w="1571625"/>
                <a:gridCol w="1571625"/>
              </a:tblGrid>
              <a:tr h="3695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45CB7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>
                    <a:lnB w="28575">
                      <a:solidFill>
                        <a:srgbClr val="245CB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45CB7"/>
                          </a:solidFill>
                        </a:rPr>
                        <a:t>SFT</a:t>
                      </a:r>
                    </a:p>
                  </a:txBody>
                  <a:tcPr marL="91440" marR="91440" marT="45720" marB="45720">
                    <a:lnB w="28575">
                      <a:solidFill>
                        <a:srgbClr val="245CB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45CB7"/>
                          </a:solidFill>
                        </a:rPr>
                        <a:t>PPO</a:t>
                      </a:r>
                    </a:p>
                  </a:txBody>
                  <a:tcPr marL="91440" marR="91440" marT="45720" marB="45720">
                    <a:lnB w="28575">
                      <a:solidFill>
                        <a:srgbClr val="245CB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45CB7"/>
                          </a:solidFill>
                        </a:rPr>
                        <a:t>GRPO</a:t>
                      </a:r>
                    </a:p>
                  </a:txBody>
                  <a:tcPr marL="91440" marR="91440" marT="45720" marB="45720">
                    <a:lnB w="28575">
                      <a:solidFill>
                        <a:srgbClr val="245CB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pi0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45.31%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82.03%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83.59%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pi05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85.16%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96.88%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95.31%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OFT T=-1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75.78%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92.97%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92.19%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OFT T=1.6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86.72%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88.28%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7-answer-point-1-label">
            <a:extLst xmlns:a="http://schemas.openxmlformats.org/drawingml/2006/main">
              <a:ext uri="{FF2B5EF4-FFF2-40B4-BE49-F238E27FC236}">
                <a16:creationId xmlns:a16="http://schemas.microsoft.com/office/drawing/2014/main" id="{FDC59D5D-FF1B-4EDF-9BA3-C551E56B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起点不同</a:t>
            </a:r>
          </a:p>
        </p:txBody>
      </p:sp>
      <p:sp>
        <p:nvSpPr>
          <p:cNvPr id="8" name="s7-answer-point-1">
            <a:extLst xmlns:a="http://schemas.openxmlformats.org/drawingml/2006/main">
              <a:ext uri="{FF2B5EF4-FFF2-40B4-BE49-F238E27FC236}">
                <a16:creationId xmlns:a16="http://schemas.microsoft.com/office/drawing/2014/main" id="{37232E96-A30A-4078-8273-304E9492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pi0 的 SFT 为 45.31%，pi05 为 85.16%；RL 增益不能脱离初始模型比较。</a:t>
            </a:r>
          </a:p>
        </p:txBody>
      </p:sp>
      <p:sp>
        <p:nvSpPr>
          <p:cNvPr id="9" name="s7-answer-point-1-rule">
            <a:extLst xmlns:a="http://schemas.openxmlformats.org/drawingml/2006/main">
              <a:ext uri="{FF2B5EF4-FFF2-40B4-BE49-F238E27FC236}">
                <a16:creationId xmlns:a16="http://schemas.microsoft.com/office/drawing/2014/main" id="{EA28BC98-A8AF-4F7C-B3A4-1C2D3ACE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0" name="s7-answer-point-2-label">
            <a:extLst xmlns:a="http://schemas.openxmlformats.org/drawingml/2006/main">
              <a:ext uri="{FF2B5EF4-FFF2-40B4-BE49-F238E27FC236}">
                <a16:creationId xmlns:a16="http://schemas.microsoft.com/office/drawing/2014/main" id="{D0B972AC-83DC-4C02-AF76-ACA321A0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温度改变结果</a:t>
            </a:r>
          </a:p>
        </p:txBody>
      </p:sp>
      <p:sp>
        <p:nvSpPr>
          <p:cNvPr id="11" name="s7-answer-point-2">
            <a:extLst xmlns:a="http://schemas.openxmlformats.org/drawingml/2006/main">
              <a:ext uri="{FF2B5EF4-FFF2-40B4-BE49-F238E27FC236}">
                <a16:creationId xmlns:a16="http://schemas.microsoft.com/office/drawing/2014/main" id="{7B9B2F93-7033-468E-A20C-68E256C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OFT 的 PPO/GRPO 在 Temp_eval=-1 与 1.6 下呈现不同 SSR。</a:t>
            </a:r>
          </a:p>
        </p:txBody>
      </p:sp>
      <p:sp>
        <p:nvSpPr>
          <p:cNvPr id="12" name="s7-answer-point-2-rule">
            <a:extLst xmlns:a="http://schemas.openxmlformats.org/drawingml/2006/main">
              <a:ext uri="{FF2B5EF4-FFF2-40B4-BE49-F238E27FC236}">
                <a16:creationId xmlns:a16="http://schemas.microsoft.com/office/drawing/2014/main" id="{B9BC29E9-CF2C-40B6-A80C-D6335B04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3" name="s7-answer-point-3-label">
            <a:extLst xmlns:a="http://schemas.openxmlformats.org/drawingml/2006/main">
              <a:ext uri="{FF2B5EF4-FFF2-40B4-BE49-F238E27FC236}">
                <a16:creationId xmlns:a16="http://schemas.microsoft.com/office/drawing/2014/main" id="{2A83A971-7BE3-4B5D-BAB5-1D9EC4E8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52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D65F42"/>
                </a:solidFill>
              </a:defRPr>
            </a:pPr>
            <a:r>
              <a:rPr sz="750" b="1">
                <a:solidFill>
                  <a:srgbClr val="D65F42"/>
                </a:solidFill>
              </a:rPr>
              <a:t>口径需固定</a:t>
            </a:r>
          </a:p>
        </p:txBody>
      </p:sp>
      <p:sp>
        <p:nvSpPr>
          <p:cNvPr id="14" name="s7-answer-point-3">
            <a:extLst xmlns:a="http://schemas.openxmlformats.org/drawingml/2006/main">
              <a:ext uri="{FF2B5EF4-FFF2-40B4-BE49-F238E27FC236}">
                <a16:creationId xmlns:a16="http://schemas.microsoft.com/office/drawing/2014/main" id="{B8202CF8-A9FB-4EDA-B964-2D5F3A68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相关温度结果部分未重跑，且 RL 结果统一取 50 step。</a:t>
            </a:r>
          </a:p>
        </p:txBody>
      </p:sp>
      <p:sp>
        <p:nvSpPr>
          <p:cNvPr id="15" name="s7-boundary-rule">
            <a:extLst xmlns:a="http://schemas.openxmlformats.org/drawingml/2006/main">
              <a:ext uri="{FF2B5EF4-FFF2-40B4-BE49-F238E27FC236}">
                <a16:creationId xmlns:a16="http://schemas.microsoft.com/office/drawing/2014/main" id="{CE13FA3A-C5F5-4234-8059-9E82167D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5F42"/>
            </a:solidFill>
            <a:prstDash val="solid"/>
          </a:ln>
        </p:spPr>
      </p:sp>
      <p:sp>
        <p:nvSpPr>
          <p:cNvPr id="16" name="s7-boundary-label">
            <a:extLst xmlns:a="http://schemas.openxmlformats.org/drawingml/2006/main">
              <a:ext uri="{FF2B5EF4-FFF2-40B4-BE49-F238E27FC236}">
                <a16:creationId xmlns:a16="http://schemas.microsoft.com/office/drawing/2014/main" id="{DBF2DC25-7E3B-46A9-9F2B-025845DF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D65F42"/>
                </a:solidFill>
              </a:defRPr>
            </a:pPr>
            <a:r>
              <a:rPr sz="825" b="1">
                <a:solidFill>
                  <a:srgbClr val="D65F42"/>
                </a:solidFill>
              </a:rPr>
              <a:t>因此</a:t>
            </a:r>
          </a:p>
        </p:txBody>
      </p:sp>
      <p:sp>
        <p:nvSpPr>
          <p:cNvPr id="17" name="s7-boundary">
            <a:extLst xmlns:a="http://schemas.openxmlformats.org/drawingml/2006/main">
              <a:ext uri="{FF2B5EF4-FFF2-40B4-BE49-F238E27FC236}">
                <a16:creationId xmlns:a16="http://schemas.microsoft.com/office/drawing/2014/main" id="{5042942E-F088-427C-A9D9-92A6F1B5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3A"/>
                </a:solidFill>
              </a:defRPr>
            </a:pPr>
            <a:r>
              <a:rPr sz="1200" b="1">
                <a:solidFill>
                  <a:srgbClr val="13233A"/>
                </a:solidFill>
              </a:rPr>
              <a:t>跨任务 train SSR 结果优先于单任务单温度结果，且当前不替代 OOD SSR 证据。</a:t>
            </a:r>
          </a:p>
        </p:txBody>
      </p:sp>
    </p:spTree>
    <p:extLst>
      <p:ext uri="{BB962C8B-B14F-4D97-AF65-F5344CB8AC3E}">
        <p14:creationId xmlns:p14="http://schemas.microsoft.com/office/powerpoint/2010/main" val="1022428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8-top-rule">
            <a:extLst xmlns:a="http://schemas.openxmlformats.org/drawingml/2006/main">
              <a:ext uri="{FF2B5EF4-FFF2-40B4-BE49-F238E27FC236}">
                <a16:creationId xmlns:a16="http://schemas.microsoft.com/office/drawing/2014/main" id="{1D99B31F-94A3-4A02-9D3C-73843945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61D8C5E2-8914-46D2-A410-B864B01C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08 / 09</a:t>
            </a:r>
          </a:p>
        </p:txBody>
      </p:sp>
      <p:sp>
        <p:nvSpPr>
          <p:cNvPr id="3" name="s8-kicker">
            <a:extLst xmlns:a="http://schemas.openxmlformats.org/drawingml/2006/main">
              <a:ext uri="{FF2B5EF4-FFF2-40B4-BE49-F238E27FC236}">
                <a16:creationId xmlns:a16="http://schemas.microsoft.com/office/drawing/2014/main" id="{65E59316-AF29-4F71-B525-87178ADC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45CB7"/>
                </a:solidFill>
              </a:defRPr>
            </a:pPr>
            <a:r>
              <a:rPr sz="975" b="1">
                <a:solidFill>
                  <a:srgbClr val="245CB7"/>
                </a:solidFill>
              </a:rPr>
              <a:t>PAPER EVIDENCE</a:t>
            </a:r>
          </a:p>
        </p:txBody>
      </p:sp>
      <p:sp>
        <p:nvSpPr>
          <p:cNvPr id="4" name="s8-title">
            <a:extLst xmlns:a="http://schemas.openxmlformats.org/drawingml/2006/main">
              <a:ext uri="{FF2B5EF4-FFF2-40B4-BE49-F238E27FC236}">
                <a16:creationId xmlns:a16="http://schemas.microsoft.com/office/drawing/2014/main" id="{BF02C035-F181-4F20-8F22-59883DF3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75" b="1">
                <a:solidFill>
                  <a:srgbClr val="13233A"/>
                </a:solidFill>
              </a:defRPr>
            </a:pPr>
            <a:r>
              <a:rPr sz="2775" b="1">
                <a:solidFill>
                  <a:srgbClr val="13233A"/>
                </a:solidFill>
              </a:rPr>
              <a:t>8 卡条件下，colocated 更有竞争力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76300" y="2247900"/>
          <a:ext xmlns:a="http://schemas.openxmlformats.org/drawingml/2006/main" cx="9906000" cy="3333750"/>
        </p:xfrm>
        <a:graphic xmlns:a="http://schemas.openxmlformats.org/drawingml/2006/main">
          <a:graphicData uri="http://schemas.openxmlformats.org/drawingml/2006/table">
            <a:tbl>
              <a:tblPr firstRow="1" firstCol="1" bandRow="0"/>
              <a:tblGrid>
                <a:gridCol w="3302000"/>
                <a:gridCol w="3302000"/>
                <a:gridCol w="3302000"/>
              </a:tblGrid>
              <a:tr h="555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8卡​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actor（s）​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rollout（s）​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Colocated​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49.15​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170.34​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Disaggregated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90.67​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546.64​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Hybrid(pipe=1)​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50.14​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303.7​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Hybrid(pipe=2)​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49.91​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283.54​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SimpleVLA​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94.05​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189.33​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8-caption">
            <a:extLst xmlns:a="http://schemas.openxmlformats.org/drawingml/2006/main">
              <a:ext uri="{FF2B5EF4-FFF2-40B4-BE49-F238E27FC236}">
                <a16:creationId xmlns:a16="http://schemas.microsoft.com/office/drawing/2014/main" id="{1153E261-B056-4327-ADF2-A1EC5DD3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C718A"/>
                </a:solidFill>
              </a:defRPr>
            </a:pPr>
            <a:r>
              <a:rPr sz="825" b="0">
                <a:solidFill>
                  <a:srgbClr val="5C718A"/>
                </a:solidFill>
              </a:rPr>
              <a:t>Paper table region on page 6</a:t>
            </a:r>
          </a:p>
        </p:txBody>
      </p:sp>
      <p:sp>
        <p:nvSpPr>
          <p:cNvPr id="7" name="s8-source-frame">
            <a:extLst xmlns:a="http://schemas.openxmlformats.org/drawingml/2006/main">
              <a:ext uri="{FF2B5EF4-FFF2-40B4-BE49-F238E27FC236}">
                <a16:creationId xmlns:a16="http://schemas.microsoft.com/office/drawing/2014/main" id="{141596A4-9282-4CD2-9134-FA3DCEEC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5"/>
            </a:solidFill>
            <a:prstDash val="solid"/>
          </a:ln>
        </p:spPr>
      </p:sp>
      <p:sp>
        <p:nvSpPr>
          <p:cNvPr id="8" name="s8-source-label">
            <a:extLst xmlns:a="http://schemas.openxmlformats.org/drawingml/2006/main">
              <a:ext uri="{FF2B5EF4-FFF2-40B4-BE49-F238E27FC236}">
                <a16:creationId xmlns:a16="http://schemas.microsoft.com/office/drawing/2014/main" id="{399FD4F2-3C76-4C34-AD9E-1D8DE99A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33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9B5C45"/>
                </a:solidFill>
              </a:defRPr>
            </a:pPr>
            <a:r>
              <a:rPr sz="750" b="1">
                <a:solidFill>
                  <a:srgbClr val="9B5C45"/>
                </a:solidFill>
              </a:rPr>
              <a:t>SOURCE CROP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9a1b55f644943"/>
          <a:stretch xmlns:a="http://schemas.openxmlformats.org/drawingml/2006/main"/>
        </p:blipFill>
        <p:spPr>
          <a:xfrm xmlns:a="http://schemas.openxmlformats.org/drawingml/2006/main">
            <a:off x="9485734" y="1104900"/>
            <a:ext cx="1031033" cy="685800"/>
          </a:xfrm>
          <a:prstGeom xmlns:a="http://schemas.openxmlformats.org/drawingml/2006/main" prst="rect">
            <a:avLst/>
          </a:prstGeom>
        </p:spPr>
      </p:pic>
      <p:sp>
        <p:nvSpPr>
          <p:cNvPr id="10" name="s8-data-takeaway-rule">
            <a:extLst xmlns:a="http://schemas.openxmlformats.org/drawingml/2006/main">
              <a:ext uri="{FF2B5EF4-FFF2-40B4-BE49-F238E27FC236}">
                <a16:creationId xmlns:a16="http://schemas.microsoft.com/office/drawing/2014/main" id="{7B8D89E5-4613-40C2-8626-DAE353FE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1" name="s8-data-takeaway-label">
            <a:extLst xmlns:a="http://schemas.openxmlformats.org/drawingml/2006/main">
              <a:ext uri="{FF2B5EF4-FFF2-40B4-BE49-F238E27FC236}">
                <a16:creationId xmlns:a16="http://schemas.microsoft.com/office/drawing/2014/main" id="{6674046A-975F-4743-A3ED-0D51AB41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626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选型结论</a:t>
            </a:r>
          </a:p>
        </p:txBody>
      </p:sp>
      <p:sp>
        <p:nvSpPr>
          <p:cNvPr id="12" name="s8-data-takeaway">
            <a:extLst xmlns:a="http://schemas.openxmlformats.org/drawingml/2006/main">
              <a:ext uri="{FF2B5EF4-FFF2-40B4-BE49-F238E27FC236}">
                <a16:creationId xmlns:a16="http://schemas.microsoft.com/office/drawing/2014/main" id="{438C8C7F-D275-4330-A234-6701218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905500"/>
            <a:ext cx="836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3233A"/>
                </a:solidFill>
              </a:defRPr>
            </a:pPr>
            <a:r>
              <a:rPr sz="1200" b="1">
                <a:solidFill>
                  <a:srgbClr val="13233A"/>
                </a:solidFill>
              </a:rPr>
              <a:t>在当前 8 卡条件下，colocated 的 actor/rollout 更有竞争力；其他模式应按同一口径逐项比较。</a:t>
            </a:r>
          </a:p>
        </p:txBody>
      </p:sp>
    </p:spTree>
    <p:extLst>
      <p:ext uri="{BB962C8B-B14F-4D97-AF65-F5344CB8AC3E}">
        <p14:creationId xmlns:p14="http://schemas.microsoft.com/office/powerpoint/2010/main" val="1094957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0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9-top-rule">
            <a:extLst xmlns:a="http://schemas.openxmlformats.org/drawingml/2006/main">
              <a:ext uri="{FF2B5EF4-FFF2-40B4-BE49-F238E27FC236}">
                <a16:creationId xmlns:a16="http://schemas.microsoft.com/office/drawing/2014/main" id="{4CA98885-C53F-4190-B298-AFDF39EF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972F5182-EA43-41F8-AE9F-5FCA493C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09 / 09</a:t>
            </a:r>
          </a:p>
        </p:txBody>
      </p:sp>
      <p:sp>
        <p:nvSpPr>
          <p:cNvPr id="3" name="s9-answer-kicker">
            <a:extLst xmlns:a="http://schemas.openxmlformats.org/drawingml/2006/main">
              <a:ext uri="{FF2B5EF4-FFF2-40B4-BE49-F238E27FC236}">
                <a16:creationId xmlns:a16="http://schemas.microsoft.com/office/drawing/2014/main" id="{E097A28D-C771-45D5-A2F2-209B6892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THE ANSWER</a:t>
            </a:r>
          </a:p>
        </p:txBody>
      </p:sp>
      <p:sp>
        <p:nvSpPr>
          <p:cNvPr id="4" name="s9-answer-title">
            <a:extLst xmlns:a="http://schemas.openxmlformats.org/drawingml/2006/main">
              <a:ext uri="{FF2B5EF4-FFF2-40B4-BE49-F238E27FC236}">
                <a16:creationId xmlns:a16="http://schemas.microsoft.com/office/drawing/2014/main" id="{BFEF30A7-7884-4951-BE48-90AF9571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3233A"/>
                </a:solidFill>
              </a:defRPr>
            </a:pPr>
            <a:r>
              <a:rPr sz="3600" b="1">
                <a:solidFill>
                  <a:srgbClr val="13233A"/>
                </a:solidFill>
              </a:rPr>
              <a:t>可信的是受控 train SSR 增益，纯算法优越性尚未证实</a:t>
            </a:r>
          </a:p>
        </p:txBody>
      </p:sp>
      <p:sp>
        <p:nvSpPr>
          <p:cNvPr id="5" name="s9-answer-claim">
            <a:extLst xmlns:a="http://schemas.openxmlformats.org/drawingml/2006/main">
              <a:ext uri="{FF2B5EF4-FFF2-40B4-BE49-F238E27FC236}">
                <a16:creationId xmlns:a16="http://schemas.microsoft.com/office/drawing/2014/main" id="{B4E27561-87DC-40C8-B971-3F76DC71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在固定 RoboTwin seed、OOD 评估契约和 8 卡 A800 条件下，RLinf 的 RL 训练在 8 个任务上将平均 train SSR 从 24.48% 提升到 84.63%，并在 colocated 配置下表现出有竞争力的 actor/rollout 时间；128 个 OOD seed 不是 OOD SSR 结果，当前证据未提供 OOD SSR。</a:t>
            </a:r>
          </a:p>
        </p:txBody>
      </p:sp>
      <p:sp>
        <p:nvSpPr>
          <p:cNvPr id="6" name="s9-answer-point-1-label">
            <a:extLst xmlns:a="http://schemas.openxmlformats.org/drawingml/2006/main">
              <a:ext uri="{FF2B5EF4-FFF2-40B4-BE49-F238E27FC236}">
                <a16:creationId xmlns:a16="http://schemas.microsoft.com/office/drawing/2014/main" id="{22BF8F54-E70F-48BD-B61A-163BE0E7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答案：train SSR 成立</a:t>
            </a:r>
          </a:p>
        </p:txBody>
      </p:sp>
      <p:sp>
        <p:nvSpPr>
          <p:cNvPr id="7" name="s9-answer-point-1">
            <a:extLst xmlns:a="http://schemas.openxmlformats.org/drawingml/2006/main">
              <a:ext uri="{FF2B5EF4-FFF2-40B4-BE49-F238E27FC236}">
                <a16:creationId xmlns:a16="http://schemas.microsoft.com/office/drawing/2014/main" id="{C4478C68-65CB-4D1C-8320-C40FA1C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8 个任务平均 train SSR：RLinf RL 84.63%，由 SFT 的 24.48% 提升；SimpleVLA RL 为 72.18%。</a:t>
            </a:r>
          </a:p>
        </p:txBody>
      </p:sp>
      <p:sp>
        <p:nvSpPr>
          <p:cNvPr id="8" name="s9-answer-point-1-rule">
            <a:extLst xmlns:a="http://schemas.openxmlformats.org/drawingml/2006/main">
              <a:ext uri="{FF2B5EF4-FFF2-40B4-BE49-F238E27FC236}">
                <a16:creationId xmlns:a16="http://schemas.microsoft.com/office/drawing/2014/main" id="{DCE61D0D-4EE1-4FE3-8F6A-FF621103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9" name="s9-answer-point-2-label">
            <a:extLst xmlns:a="http://schemas.openxmlformats.org/drawingml/2006/main">
              <a:ext uri="{FF2B5EF4-FFF2-40B4-BE49-F238E27FC236}">
                <a16:creationId xmlns:a16="http://schemas.microsoft.com/office/drawing/2014/main" id="{FF395272-BD6F-4A64-84AE-85A77FC4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采用条件：效率有范围</a:t>
            </a:r>
          </a:p>
        </p:txBody>
      </p:sp>
      <p:sp>
        <p:nvSpPr>
          <p:cNvPr id="10" name="s9-answer-point-2">
            <a:extLst xmlns:a="http://schemas.openxmlformats.org/drawingml/2006/main">
              <a:ext uri="{FF2B5EF4-FFF2-40B4-BE49-F238E27FC236}">
                <a16:creationId xmlns:a16="http://schemas.microsoft.com/office/drawing/2014/main" id="{2587A542-2D0A-4670-96E6-4D0546A2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8 卡 colocated 下，RLinf actor/rollout 为 49.15/170.34 秒，低于 SimpleVLA 的 94.05/189.33 秒。</a:t>
            </a:r>
          </a:p>
        </p:txBody>
      </p:sp>
      <p:sp>
        <p:nvSpPr>
          <p:cNvPr id="11" name="s9-answer-point-2-rule">
            <a:extLst xmlns:a="http://schemas.openxmlformats.org/drawingml/2006/main">
              <a:ext uri="{FF2B5EF4-FFF2-40B4-BE49-F238E27FC236}">
                <a16:creationId xmlns:a16="http://schemas.microsoft.com/office/drawing/2014/main" id="{E0DDE58E-52E1-45AB-A965-774DD4D5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2" name="s9-answer-point-3-label">
            <a:extLst xmlns:a="http://schemas.openxmlformats.org/drawingml/2006/main">
              <a:ext uri="{FF2B5EF4-FFF2-40B4-BE49-F238E27FC236}">
                <a16:creationId xmlns:a16="http://schemas.microsoft.com/office/drawing/2014/main" id="{FE514DCA-C272-4FDC-B2CC-B1BFCF13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52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D65F42"/>
                </a:solidFill>
              </a:defRPr>
            </a:pPr>
            <a:r>
              <a:rPr sz="750" b="1">
                <a:solidFill>
                  <a:srgbClr val="D65F42"/>
                </a:solidFill>
              </a:rPr>
              <a:t>边界：OOD 与纯算法归因未证实</a:t>
            </a:r>
          </a:p>
        </p:txBody>
      </p:sp>
      <p:sp>
        <p:nvSpPr>
          <p:cNvPr id="13" name="s9-answer-point-3">
            <a:extLst xmlns:a="http://schemas.openxmlformats.org/drawingml/2006/main">
              <a:ext uri="{FF2B5EF4-FFF2-40B4-BE49-F238E27FC236}">
                <a16:creationId xmlns:a16="http://schemas.microsoft.com/office/drawing/2014/main" id="{69D557DB-215A-4E8A-B830-AB51F3A3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128 个 OOD seed 是评估契约而非 OOD SSR 结果；精度、学习率、LoRA、valid trajectory 收集与 reward 设计不同。</a:t>
            </a:r>
          </a:p>
        </p:txBody>
      </p:sp>
      <p:sp>
        <p:nvSpPr>
          <p:cNvPr id="14" name="s9-boundary-rule">
            <a:extLst xmlns:a="http://schemas.openxmlformats.org/drawingml/2006/main">
              <a:ext uri="{FF2B5EF4-FFF2-40B4-BE49-F238E27FC236}">
                <a16:creationId xmlns:a16="http://schemas.microsoft.com/office/drawing/2014/main" id="{141A308D-0E9B-40CD-997F-8C556230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5F42"/>
            </a:solidFill>
            <a:prstDash val="solid"/>
          </a:ln>
        </p:spPr>
      </p:sp>
      <p:sp>
        <p:nvSpPr>
          <p:cNvPr id="15" name="s9-boundary-label">
            <a:extLst xmlns:a="http://schemas.openxmlformats.org/drawingml/2006/main">
              <a:ext uri="{FF2B5EF4-FFF2-40B4-BE49-F238E27FC236}">
                <a16:creationId xmlns:a16="http://schemas.microsoft.com/office/drawing/2014/main" id="{61960BF5-3526-4715-B59D-8BC845FA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D65F42"/>
                </a:solidFill>
              </a:defRPr>
            </a:pPr>
            <a:r>
              <a:rPr sz="825" b="1">
                <a:solidFill>
                  <a:srgbClr val="D65F42"/>
                </a:solidFill>
              </a:rPr>
              <a:t>最终判断</a:t>
            </a:r>
          </a:p>
        </p:txBody>
      </p:sp>
      <p:sp>
        <p:nvSpPr>
          <p:cNvPr id="16" name="s9-boundary">
            <a:extLst xmlns:a="http://schemas.openxmlformats.org/drawingml/2006/main">
              <a:ext uri="{FF2B5EF4-FFF2-40B4-BE49-F238E27FC236}">
                <a16:creationId xmlns:a16="http://schemas.microsoft.com/office/drawing/2014/main" id="{CF569B7E-BC53-471F-8A8C-DD0BBA6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3A"/>
                </a:solidFill>
              </a:defRPr>
            </a:pPr>
            <a:r>
              <a:rPr sz="1200" b="1">
                <a:solidFill>
                  <a:srgbClr val="13233A"/>
                </a:solidFill>
              </a:rPr>
              <a:t>受控条件下 RLinf 系统 train SSR 更强且具有效率优势；当前无 OOD SSR 结果，纯算法因果仍需额外控制变量。</a:t>
            </a:r>
          </a:p>
        </p:txBody>
      </p:sp>
    </p:spTree>
    <p:extLst>
      <p:ext uri="{BB962C8B-B14F-4D97-AF65-F5344CB8AC3E}">
        <p14:creationId xmlns:p14="http://schemas.microsoft.com/office/powerpoint/2010/main" val="1585606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2026-07-30T16:15:38.6840000Z</dcterms:created>
  <dcterms:modified xsi:type="dcterms:W3CDTF">2026-07-30T16:15:38.6840000Z</dcterms:modified>
</coreProperties>
</file>