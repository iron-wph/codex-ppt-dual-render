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e5180eed5e4c1b" /><Relationship Type="http://schemas.openxmlformats.org/officeDocument/2006/relationships/extended-properties" Target="/docProps/app.xml" Id="Rac70bbee19c34bc4" /><Relationship Type="http://schemas.openxmlformats.org/officeDocument/2006/relationships/officeDocument" Target="/ppt/presentation.xml" Id="R0169662a740f4b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421d6bf715474b"/>
  </p:sldMasterIdLst>
  <p:notesMasterIdLst>
    <p:notesMasterId xmlns:r="http://schemas.openxmlformats.org/officeDocument/2006/relationships" r:id="R63833c2a2e504604"/>
  </p:notesMasterIdLst>
  <p:sldIdLst>
    <p:sldId xmlns:r="http://schemas.openxmlformats.org/officeDocument/2006/relationships" id="256" r:id="Recbb3ad8ebf1484a"/>
    <p:sldId xmlns:r="http://schemas.openxmlformats.org/officeDocument/2006/relationships" id="257" r:id="R66accd3ebe7448d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d598b10e264867" /><Relationship Type="http://schemas.openxmlformats.org/officeDocument/2006/relationships/slideMaster" Target="/ppt/slideMasters/slideMaster1.xml" Id="R2a421d6bf715474b" /><Relationship Type="http://schemas.openxmlformats.org/officeDocument/2006/relationships/notesMaster" Target="/ppt/notesMasters/notesMaster1.xml" Id="R63833c2a2e504604" /><Relationship Type="http://schemas.openxmlformats.org/officeDocument/2006/relationships/presProps" Target="/ppt/presProps.xml" Id="R9653e84df94743d6" /><Relationship Type="http://schemas.openxmlformats.org/officeDocument/2006/relationships/tableStyles" Target="/ppt/tableStyles.xml" Id="R05612a16bbfd4089" /><Relationship Type="http://schemas.openxmlformats.org/officeDocument/2006/relationships/slide" Target="/ppt/slides/slide1.xml" Id="Recbb3ad8ebf1484a" /><Relationship Type="http://schemas.openxmlformats.org/officeDocument/2006/relationships/slide" Target="/ppt/slides/slide2.xml" Id="R66accd3ebe7448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e3eaee853545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f2708803894a90" /><Relationship Type="http://schemas.openxmlformats.org/officeDocument/2006/relationships/notesMaster" Target="/ppt/notesMasters/notesMaster1.xml" Id="R5eeb782b471f45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f00ccc047b409d" /><Relationship Type="http://schemas.openxmlformats.org/officeDocument/2006/relationships/notesMaster" Target="/ppt/notesMasters/notesMaster1.xml" Id="Re1b94964cc0e47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24299c8b8744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9fecb090944691" /><Relationship Type="http://schemas.openxmlformats.org/officeDocument/2006/relationships/slideLayout" Target="/ppt/slideLayouts/slideLayout1.xml" Id="Rdb0d5b77f61a44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0d5b77f61a44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f8b45f1621451d" /><Relationship Type="http://schemas.openxmlformats.org/officeDocument/2006/relationships/notesSlide" Target="/ppt/notesSlides/notesSlide1.xml" Id="R199fa34985704a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3e0bbc85a54d24" /><Relationship Type="http://schemas.openxmlformats.org/officeDocument/2006/relationships/chart" Target="/ppt/slides/charts/chart1.xml" Id="Rcb5dc48db613454a" /><Relationship Type="http://schemas.openxmlformats.org/officeDocument/2006/relationships/image" Target="/ppt/media/image.png" Id="R86af4ea8984d4ab6" /><Relationship Type="http://schemas.openxmlformats.org/officeDocument/2006/relationships/notesSlide" Target="/ppt/notesSlides/notesSlide2.xml" Id="R7f7e70b32a3d4df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LIBERO improvement Δ</c:v>
          </c:tx>
          <c:cat>
            <c:strLit>
              <c:ptCount val="5"/>
              <c:pt idx="0">
                <c:v>Space</c:v>
              </c:pt>
              <c:pt idx="1">
                <c:v>Object</c:v>
              </c:pt>
              <c:pt idx="2">
                <c:v>Goal</c:v>
              </c:pt>
              <c:pt idx="3">
                <c:v>Long</c:v>
              </c:pt>
              <c:pt idx="4">
                <c:v>Avg</c:v>
              </c:pt>
            </c:strLit>
          </c:cat>
          <c:val>
            <c:numLit>
              <c:formatCode>General</c:formatCode>
              <c:ptCount val="5"/>
              <c:pt idx="0">
                <c:v>7.8</c:v>
              </c:pt>
              <c:pt idx="1">
                <c:v>3.8</c:v>
              </c:pt>
              <c:pt idx="2">
                <c:v>8.6</c:v>
              </c:pt>
              <c:pt idx="3">
                <c:v>12</c:v>
              </c:pt>
              <c:pt idx="4">
                <c:v>8.1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F1F3E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39443B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A5AEA5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181D1A"/>
        </a:solidFill>
      </c:spPr>
    </c:plotArea>
    <c:plotVisOnly val="1"/>
  </c:chart>
  <c:spPr>
    <a:solidFill xmlns:a="http://schemas.openxmlformats.org/drawingml/2006/main">
      <a:srgbClr val="181D1A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3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1-top-rule">
            <a:extLst xmlns:a="http://schemas.openxmlformats.org/drawingml/2006/main">
              <a:ext uri="{FF2B5EF4-FFF2-40B4-BE49-F238E27FC236}">
                <a16:creationId xmlns:a16="http://schemas.microsoft.com/office/drawing/2014/main" id="{63338131-471C-4A4C-A3B8-6DD4AED8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9443B"/>
            </a:solidFill>
            <a:prstDash val="solid"/>
          </a:ln>
        </p:spPr>
      </p:sp>
      <p:sp>
        <p:nvSpPr>
          <p:cNvPr id="2" name="slide-1-page">
            <a:extLst xmlns:a="http://schemas.openxmlformats.org/drawingml/2006/main">
              <a:ext uri="{FF2B5EF4-FFF2-40B4-BE49-F238E27FC236}">
                <a16:creationId xmlns:a16="http://schemas.microsoft.com/office/drawing/2014/main" id="{2D787285-95A2-42C6-8E26-0E9939F0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3627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A5AEA5"/>
                </a:solidFill>
              </a:defRPr>
            </a:pPr>
            <a:r>
              <a:rPr sz="900" b="0">
                <a:solidFill>
                  <a:srgbClr val="A5AEA5"/>
                </a:solidFill>
              </a:rPr>
              <a:t>01 / 02</a:t>
            </a:r>
          </a:p>
        </p:txBody>
      </p:sp>
      <p:sp>
        <p:nvSpPr>
          <p:cNvPr id="3" name="slide-001-eyebrow">
            <a:extLst xmlns:a="http://schemas.openxmlformats.org/drawingml/2006/main">
              <a:ext uri="{FF2B5EF4-FFF2-40B4-BE49-F238E27FC236}">
                <a16:creationId xmlns:a16="http://schemas.microsoft.com/office/drawing/2014/main" id="{F8F0AE8D-FC30-4F3B-9C5A-C107AF47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D8FF5A"/>
                </a:solidFill>
              </a:defRPr>
            </a:pPr>
            <a:r>
              <a:rPr sz="1050" b="1">
                <a:solidFill>
                  <a:srgbClr val="D8FF5A"/>
                </a:solidFill>
              </a:rPr>
              <a:t>PAPER / RESEARCH BRIEF</a:t>
            </a:r>
          </a:p>
        </p:txBody>
      </p:sp>
      <p:sp>
        <p:nvSpPr>
          <p:cNvPr id="4" name="slide-001-title">
            <a:extLst xmlns:a="http://schemas.openxmlformats.org/drawingml/2006/main">
              <a:ext uri="{FF2B5EF4-FFF2-40B4-BE49-F238E27FC236}">
                <a16:creationId xmlns:a16="http://schemas.microsoft.com/office/drawing/2014/main" id="{4E5C0D89-5644-43B3-AC39-190F3928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350" b="1">
                <a:solidFill>
                  <a:srgbClr val="F1F3E9"/>
                </a:solidFill>
              </a:defRPr>
            </a:pPr>
            <a:r>
              <a:rPr sz="4350" b="1">
                <a:solidFill>
                  <a:srgbClr val="F1F3E9"/>
                </a:solidFill>
              </a:rPr>
              <a:t>SimpleVLA-RL Technical Report</a:t>
            </a:r>
          </a:p>
        </p:txBody>
      </p:sp>
      <p:sp>
        <p:nvSpPr>
          <p:cNvPr id="5" name="slide-001-subtitle">
            <a:extLst xmlns:a="http://schemas.openxmlformats.org/drawingml/2006/main">
              <a:ext uri="{FF2B5EF4-FFF2-40B4-BE49-F238E27FC236}">
                <a16:creationId xmlns:a16="http://schemas.microsoft.com/office/drawing/2014/main" id="{AF540D13-1E4F-41C0-950F-C7585BEC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561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A5AEA5"/>
                </a:solidFill>
              </a:defRPr>
            </a:pPr>
            <a:r>
              <a:rPr sz="1575" b="0">
                <a:solidFill>
                  <a:srgbClr val="A5AEA5"/>
                </a:solidFill>
              </a:rPr>
              <a:t>Full-paper deterministic storyboard generated from 24 PDF pages.</a:t>
            </a:r>
          </a:p>
        </p:txBody>
      </p:sp>
      <p:sp>
        <p:nvSpPr>
          <p:cNvPr id="6" name="slide-001-ring-a">
            <a:extLst xmlns:a="http://schemas.openxmlformats.org/drawingml/2006/main">
              <a:ext uri="{FF2B5EF4-FFF2-40B4-BE49-F238E27FC236}">
                <a16:creationId xmlns:a16="http://schemas.microsoft.com/office/drawing/2014/main" id="{3C6E19D7-16F8-40A7-B114-C68232B4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0">
            <a:off x="6934200" y="1676400"/>
            <a:ext cx="3848100" cy="3162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FF5A"/>
            </a:solidFill>
            <a:prstDash val="solid"/>
          </a:ln>
        </p:spPr>
      </p:sp>
      <p:sp>
        <p:nvSpPr>
          <p:cNvPr id="7" name="slide-001-ring-b">
            <a:extLst xmlns:a="http://schemas.openxmlformats.org/drawingml/2006/main">
              <a:ext uri="{FF2B5EF4-FFF2-40B4-BE49-F238E27FC236}">
                <a16:creationId xmlns:a16="http://schemas.microsoft.com/office/drawing/2014/main" id="{20C77472-4101-4B20-8F6D-37A9A8EE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20000">
            <a:off x="7410450" y="2228850"/>
            <a:ext cx="2895600" cy="2057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7757"/>
            </a:solidFill>
            <a:prstDash val="solid"/>
          </a:ln>
        </p:spPr>
      </p:sp>
      <p:sp>
        <p:nvSpPr>
          <p:cNvPr id="8" name="slide-001-core">
            <a:extLst xmlns:a="http://schemas.openxmlformats.org/drawingml/2006/main">
              <a:ext uri="{FF2B5EF4-FFF2-40B4-BE49-F238E27FC236}">
                <a16:creationId xmlns:a16="http://schemas.microsoft.com/office/drawing/2014/main" id="{BEC91F71-B6C7-4330-A597-F3E549CF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67000"/>
            <a:ext cx="1181100" cy="1181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FF5A"/>
          </a:solidFill>
          <a:ln xmlns:a="http://schemas.openxmlformats.org/drawingml/2006/main" w="9525">
            <a:solidFill>
              <a:srgbClr val="D8FF5A"/>
            </a:solidFill>
            <a:prstDash val="solid"/>
          </a:ln>
        </p:spPr>
      </p:sp>
      <p:sp>
        <p:nvSpPr>
          <p:cNvPr id="9" name="slide-001-core-text">
            <a:extLst xmlns:a="http://schemas.openxmlformats.org/drawingml/2006/main">
              <a:ext uri="{FF2B5EF4-FFF2-40B4-BE49-F238E27FC236}">
                <a16:creationId xmlns:a16="http://schemas.microsoft.com/office/drawing/2014/main" id="{383B6789-B591-4058-9BF6-CC850BA9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57525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0A0D0B"/>
                </a:solidFill>
              </a:defRPr>
            </a:pPr>
            <a:r>
              <a:rPr sz="1125" b="1">
                <a:solidFill>
                  <a:srgbClr val="0A0D0B"/>
                </a:solidFill>
              </a:rPr>
              <a:t>EVIDENCE</a:t>
            </a:r>
          </a:p>
        </p:txBody>
      </p:sp>
      <p:sp>
        <p:nvSpPr>
          <p:cNvPr id="10" name="slide-001-html">
            <a:extLst xmlns:a="http://schemas.openxmlformats.org/drawingml/2006/main">
              <a:ext uri="{FF2B5EF4-FFF2-40B4-BE49-F238E27FC236}">
                <a16:creationId xmlns:a16="http://schemas.microsoft.com/office/drawing/2014/main" id="{557DFD85-784E-41F4-9D5C-6F20D407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7526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FF7757"/>
                </a:solidFill>
              </a:defRPr>
            </a:pPr>
            <a:r>
              <a:rPr sz="1050" b="1">
                <a:solidFill>
                  <a:srgbClr val="FF7757"/>
                </a:solidFill>
              </a:rPr>
              <a:t>METHOD</a:t>
            </a:r>
          </a:p>
        </p:txBody>
      </p:sp>
      <p:sp>
        <p:nvSpPr>
          <p:cNvPr id="11" name="slide-001-pptx">
            <a:extLst xmlns:a="http://schemas.openxmlformats.org/drawingml/2006/main">
              <a:ext uri="{FF2B5EF4-FFF2-40B4-BE49-F238E27FC236}">
                <a16:creationId xmlns:a16="http://schemas.microsoft.com/office/drawing/2014/main" id="{9318CD8D-AB9C-4E63-B5AC-0A2A10E4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19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1">
                <a:solidFill>
                  <a:srgbClr val="8EE3C4"/>
                </a:solidFill>
              </a:defRPr>
            </a:pPr>
            <a:r>
              <a:rPr sz="1050" b="1">
                <a:solidFill>
                  <a:srgbClr val="8EE3C4"/>
                </a:solidFill>
              </a:rPr>
              <a:t>RESULT</a:t>
            </a:r>
          </a:p>
        </p:txBody>
      </p:sp>
      <p:sp>
        <p:nvSpPr>
          <p:cNvPr id="12" name="slide-001-note-bg">
            <a:extLst xmlns:a="http://schemas.openxmlformats.org/drawingml/2006/main">
              <a:ext uri="{FF2B5EF4-FFF2-40B4-BE49-F238E27FC236}">
                <a16:creationId xmlns:a16="http://schemas.microsoft.com/office/drawing/2014/main" id="{3273F554-AE99-4B2F-AF61-126BA621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6858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1D1A"/>
          </a:solidFill>
          <a:ln xmlns:a="http://schemas.openxmlformats.org/drawingml/2006/main" w="9525">
            <a:solidFill>
              <a:srgbClr val="39443B"/>
            </a:solidFill>
            <a:prstDash val="solid"/>
          </a:ln>
        </p:spPr>
      </p:sp>
      <p:sp>
        <p:nvSpPr>
          <p:cNvPr id="13" name="slide-001-note-label">
            <a:extLst xmlns:a="http://schemas.openxmlformats.org/drawingml/2006/main">
              <a:ext uri="{FF2B5EF4-FFF2-40B4-BE49-F238E27FC236}">
                <a16:creationId xmlns:a16="http://schemas.microsoft.com/office/drawing/2014/main" id="{BC5D5F35-F134-4CC9-BA35-2BEF9093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D8FF5A"/>
                </a:solidFill>
              </a:defRPr>
            </a:pPr>
            <a:r>
              <a:rPr sz="900" b="1">
                <a:solidFill>
                  <a:srgbClr val="D8FF5A"/>
                </a:solidFill>
              </a:rPr>
              <a:t>CORE CLAIM</a:t>
            </a:r>
          </a:p>
        </p:txBody>
      </p:sp>
      <p:sp>
        <p:nvSpPr>
          <p:cNvPr id="14" name="slide-001-note-value">
            <a:extLst xmlns:a="http://schemas.openxmlformats.org/drawingml/2006/main">
              <a:ext uri="{FF2B5EF4-FFF2-40B4-BE49-F238E27FC236}">
                <a16:creationId xmlns:a16="http://schemas.microsoft.com/office/drawing/2014/main" id="{418F55DA-D905-41AD-9AD9-1BA25355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5245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F1F3E9"/>
                </a:solidFill>
              </a:defRPr>
            </a:pPr>
            <a:r>
              <a:rPr sz="1200" b="1">
                <a:solidFill>
                  <a:srgbClr val="F1F3E9"/>
                </a:solidFill>
              </a:rPr>
              <a:t>Full-paper deterministic sto</a:t>
            </a:r>
          </a:p>
        </p:txBody>
      </p:sp>
    </p:spTree>
    <p:extLst>
      <p:ext uri="{BB962C8B-B14F-4D97-AF65-F5344CB8AC3E}">
        <p14:creationId xmlns:p14="http://schemas.microsoft.com/office/powerpoint/2010/main" val="10979018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3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2-top-rule">
            <a:extLst xmlns:a="http://schemas.openxmlformats.org/drawingml/2006/main">
              <a:ext uri="{FF2B5EF4-FFF2-40B4-BE49-F238E27FC236}">
                <a16:creationId xmlns:a16="http://schemas.microsoft.com/office/drawing/2014/main" id="{5D54A004-BC9E-40A6-95AD-124F866D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9443B"/>
            </a:solidFill>
            <a:prstDash val="solid"/>
          </a:ln>
        </p:spPr>
      </p:sp>
      <p:sp>
        <p:nvSpPr>
          <p:cNvPr id="2" name="slide-2-page">
            <a:extLst xmlns:a="http://schemas.openxmlformats.org/drawingml/2006/main">
              <a:ext uri="{FF2B5EF4-FFF2-40B4-BE49-F238E27FC236}">
                <a16:creationId xmlns:a16="http://schemas.microsoft.com/office/drawing/2014/main" id="{BD4812C1-78EC-46CC-8B3A-A9E49904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3627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A5AEA5"/>
                </a:solidFill>
              </a:defRPr>
            </a:pPr>
            <a:r>
              <a:rPr sz="900" b="0">
                <a:solidFill>
                  <a:srgbClr val="A5AEA5"/>
                </a:solidFill>
              </a:rPr>
              <a:t>02 / 02</a:t>
            </a:r>
          </a:p>
        </p:txBody>
      </p:sp>
      <p:sp>
        <p:nvSpPr>
          <p:cNvPr id="3" name="slide-008-kicker">
            <a:extLst xmlns:a="http://schemas.openxmlformats.org/drawingml/2006/main">
              <a:ext uri="{FF2B5EF4-FFF2-40B4-BE49-F238E27FC236}">
                <a16:creationId xmlns:a16="http://schemas.microsoft.com/office/drawing/2014/main" id="{715AF1B3-7BCF-4A3A-855D-7E5009F7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D8FF5A"/>
                </a:solidFill>
              </a:defRPr>
            </a:pPr>
            <a:r>
              <a:rPr sz="975" b="1">
                <a:solidFill>
                  <a:srgbClr val="D8FF5A"/>
                </a:solidFill>
              </a:rPr>
              <a:t>PAPER EVIDENCE</a:t>
            </a:r>
          </a:p>
        </p:txBody>
      </p:sp>
      <p:sp>
        <p:nvSpPr>
          <p:cNvPr id="4" name="slide-008-title">
            <a:extLst xmlns:a="http://schemas.openxmlformats.org/drawingml/2006/main">
              <a:ext uri="{FF2B5EF4-FFF2-40B4-BE49-F238E27FC236}">
                <a16:creationId xmlns:a16="http://schemas.microsoft.com/office/drawing/2014/main" id="{E31FA5BF-338C-4E09-9AC2-09A9068E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7620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850" b="1">
                <a:solidFill>
                  <a:srgbClr val="F1F3E9"/>
                </a:solidFill>
              </a:defRPr>
            </a:pPr>
            <a:r>
              <a:rPr sz="2850" b="1">
                <a:solidFill>
                  <a:srgbClr val="F1F3E9"/>
                </a:solidFill>
              </a:rPr>
              <a:t>主要结果：性能、数据效率和迁移同时提升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876300" y="2247900"/>
          <a:ext xmlns:a="http://schemas.openxmlformats.org/drawingml/2006/main" cx="10001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b5dc48db613454a"/>
          </a:graphicData>
        </a:graphic>
      </p:graphicFrame>
      <p:sp>
        <p:nvSpPr>
          <p:cNvPr id="6" name="slide-008-caption">
            <a:extLst xmlns:a="http://schemas.openxmlformats.org/drawingml/2006/main">
              <a:ext uri="{FF2B5EF4-FFF2-40B4-BE49-F238E27FC236}">
                <a16:creationId xmlns:a16="http://schemas.microsoft.com/office/drawing/2014/main" id="{5937F61D-B012-4D99-B8BF-A32FDC68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A5AEA5"/>
                </a:solidFill>
              </a:defRPr>
            </a:pPr>
            <a:r>
              <a:rPr sz="825" b="0">
                <a:solidFill>
                  <a:srgbClr val="A5AEA5"/>
                </a:solidFill>
              </a:rPr>
              <a:t>p10-table-1</a:t>
            </a:r>
          </a:p>
        </p:txBody>
      </p:sp>
      <p:sp>
        <p:nvSpPr>
          <p:cNvPr id="7" name="slide-008-source-frame">
            <a:extLst xmlns:a="http://schemas.openxmlformats.org/drawingml/2006/main">
              <a:ext uri="{FF2B5EF4-FFF2-40B4-BE49-F238E27FC236}">
                <a16:creationId xmlns:a16="http://schemas.microsoft.com/office/drawing/2014/main" id="{E6756DB9-E9DC-45C1-8C91-AE78376A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38200"/>
            <a:ext cx="2857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C5"/>
            </a:solidFill>
            <a:prstDash val="solid"/>
          </a:ln>
        </p:spPr>
      </p:sp>
      <p:sp>
        <p:nvSpPr>
          <p:cNvPr id="8" name="slide-008-source-label">
            <a:extLst xmlns:a="http://schemas.openxmlformats.org/drawingml/2006/main">
              <a:ext uri="{FF2B5EF4-FFF2-40B4-BE49-F238E27FC236}">
                <a16:creationId xmlns:a16="http://schemas.microsoft.com/office/drawing/2014/main" id="{45AB60F2-2796-4122-88CB-75B27C04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93345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9B5C45"/>
                </a:solidFill>
              </a:defRPr>
            </a:pPr>
            <a:r>
              <a:rPr sz="750" b="1">
                <a:solidFill>
                  <a:srgbClr val="9B5C45"/>
                </a:solidFill>
              </a:rPr>
              <a:t>SOURCE CROP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af4ea8984d4ab6"/>
          <a:stretch xmlns:a="http://schemas.openxmlformats.org/drawingml/2006/main"/>
        </p:blipFill>
        <p:spPr>
          <a:xfrm xmlns:a="http://schemas.openxmlformats.org/drawingml/2006/main">
            <a:off x="8686800" y="1326732"/>
            <a:ext cx="2628900" cy="24213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6320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2026-07-18T03:36:05.1220000Z</dcterms:created>
  <dcterms:modified xsi:type="dcterms:W3CDTF">2026-07-18T03:36:05.1230000Z</dcterms:modified>
</coreProperties>
</file>